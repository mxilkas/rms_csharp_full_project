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project as a practical business solution: many rental offices keep property, owner, customer, contract, sale, and payment data in different places. RentalPro RMS brings those records together and demonstrates a professional full-stack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is not only to make pages look good. The objective is to make a working software system: database tables, backend endpoints, React pages, and an integration strategy that works in development and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system as a real business workflow, not as isolated CRUD pages. Properties are the center, and the other modules represent people, contracts, revenue, and reporting around those properties.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each technology has one clear responsibility. React is not accessing SQL directly. SQL is not exposed to the browser. The API is the safe middle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tell the data story. A property belongs to an owner. A customer can rent or buy a property. Payments record money movement. This is why relational database design is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the backbone. Describe the flow from browser interaction to SQL Server and back. Emphasize the API as the boundary between frontend and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demonstrating, do not click randomly. Follow a story: start with the home page, move to management, add or edit a property, show the API endpoint in Swagger, and then confirm the database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a common confusion: frontend/src is for editing. frontend/dist is generated by Vite. wwwroot is the copy that ASP.NET Core serves. If a change does not appear on the backend URL, it probably means the new dist was not copied into wwwroot or the browser cache was not refreshed.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update process is manual unless you create a batch file. Explain that wwwroot is a snapshot of the finished React build, not a live connection to frontend/src.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Dependency Injection is the backend learning point. Instead of building objects inside controllers, we register them. The framework injects them. This keeps controllers clean and makes the code more maintainable.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dependency idea in code. First we install the database client package. Then Program.cs registers services. Finally the controller requests what it needs through the constructor.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model is the contract. React sends JSON that matches this model, and the API returns JSON based on this model. The model is simple but important because it defines the data vocabulary of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class is the database worker. It hides SQL details from the controller, reads the connection string from configuration, and provides beginner-friendly methods like GetAllProperties and AddProperty.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controller is the public API gate. It receives HTTP requests, calls Data methods, validates business rules, and returns clear HTTP responses that React can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learning in a confident way: the project taught not only React and C#, but also how a system is connected, built, served, updated and demonstrated professionally.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emphasizing that the system is a strong foundation. It works as a full-stack architecture and can be extended with stronger security, uploads, reporting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MS_MASTER">
    <p:bg>
      <p:bgPr>
        <a:solidFill>
          <a:srgbClr val="F6F9FC"/>
        </a:solidFill>
      </p:bgPr>
    </p:bg>
    <p:spTree>
      <p:nvGrpSpPr>
        <p:cNvPr id="1" name=""/>
        <p:cNvGrpSpPr/>
        <p:nvPr/>
      </p:nvGrpSpPr>
      <p:grpSpPr>
        <a:xfrm>
          <a:off x="0" y="0"/>
          <a:ext cx="0" cy="0"/>
          <a:chOff x="0" y="0"/>
          <a:chExt cx="0" cy="0"/>
        </a:xfrm>
      </p:grpSpPr>
      <p:sp>
        <p:nvSpPr>
          <p:cNvPr id="2" name="Shape 0"/>
          <p:cNvSpPr/>
          <p:nvPr/>
        </p:nvSpPr>
        <p:spPr>
          <a:xfrm>
            <a:off x="502920" y="6519672"/>
            <a:ext cx="11183112" cy="0"/>
          </a:xfrm>
          <a:prstGeom prst="line">
            <a:avLst/>
          </a:prstGeom>
          <a:noFill/>
          <a:ln w="12700">
            <a:solidFill>
              <a:srgbClr val="DDE8F2"/>
            </a:solidFill>
            <a:prstDash val="solid"/>
          </a:ln>
        </p:spPr>
      </p:sp>
      <p:sp>
        <p:nvSpPr>
          <p:cNvPr id="3" name="Text 1"/>
          <p:cNvSpPr/>
          <p:nvPr/>
        </p:nvSpPr>
        <p:spPr>
          <a:xfrm>
            <a:off x="548640" y="6583680"/>
            <a:ext cx="6949440" cy="164592"/>
          </a:xfrm>
          <a:prstGeom prst="rect">
            <a:avLst/>
          </a:prstGeom>
          <a:noFill/>
          <a:ln/>
        </p:spPr>
        <p:txBody>
          <a:bodyPr wrap="square" rtlCol="0" anchor="ctr"/>
          <a:lstStyle/>
          <a:p>
            <a:pPr indent="0" marL="0">
              <a:buNone/>
            </a:pPr>
            <a:r>
              <a:rPr lang="en-US" sz="750" dirty="0">
                <a:solidFill>
                  <a:srgbClr val="6B7D90"/>
                </a:solidFill>
                <a:latin typeface="Aptos" pitchFamily="34" charset="0"/>
                <a:ea typeface="Aptos" pitchFamily="34" charset="-122"/>
                <a:cs typeface="Aptos" pitchFamily="34" charset="-120"/>
              </a:rPr>
              <a:t>RentalPro RMS • ASP.NET Core + React + SQL Server</a:t>
            </a:r>
            <a:endParaRPr lang="en-US" sz="75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375F"/>
        </a:solidFill>
      </p:bgPr>
    </p:bg>
    <p:spTree>
      <p:nvGrpSpPr>
        <p:cNvPr id="1" name=""/>
        <p:cNvGrpSpPr/>
        <p:nvPr/>
      </p:nvGrpSpPr>
      <p:grpSpPr>
        <a:xfrm>
          <a:off x="0" y="0"/>
          <a:ext cx="0" cy="0"/>
          <a:chOff x="0" y="0"/>
          <a:chExt cx="0" cy="0"/>
        </a:xfrm>
      </p:grpSpPr>
      <p:pic>
        <p:nvPicPr>
          <p:cNvPr id="2" name="Image 0" descr="/mnt/data/rentalpro_doc_assets/hero-buildings.png">    </p:cNvPr>
          <p:cNvPicPr>
            <a:picLocks noChangeAspect="1"/>
          </p:cNvPicPr>
          <p:nvPr/>
        </p:nvPicPr>
        <p:blipFill>
          <a:blip r:embed="rId1"/>
          <a:srcRect l="0" r="0" t="11838" b="11838"/>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alpha val="82000"/>
            </a:srgbClr>
          </a:solidFill>
          <a:ln w="12700">
            <a:solidFill>
              <a:srgbClr val="333333">
                <a:alpha val="0"/>
              </a:srgbClr>
            </a:solidFill>
            <a:prstDash val="solid"/>
          </a:ln>
        </p:spPr>
      </p:sp>
      <p:sp>
        <p:nvSpPr>
          <p:cNvPr id="4" name="Shape 1"/>
          <p:cNvSpPr/>
          <p:nvPr/>
        </p:nvSpPr>
        <p:spPr>
          <a:xfrm>
            <a:off x="0" y="0"/>
            <a:ext cx="12191695" cy="6858000"/>
          </a:xfrm>
          <a:prstGeom prst="rect">
            <a:avLst/>
          </a:prstGeom>
          <a:solidFill>
            <a:srgbClr val="10375F">
              <a:alpha val="82000"/>
            </a:srgbClr>
          </a:solidFill>
          <a:ln w="12700">
            <a:solidFill>
              <a:srgbClr val="333333">
                <a:alpha val="0"/>
              </a:srgbClr>
            </a:solidFill>
            <a:prstDash val="solid"/>
          </a:ln>
        </p:spPr>
      </p:sp>
      <p:sp>
        <p:nvSpPr>
          <p:cNvPr id="5" name="Shape 2"/>
          <p:cNvSpPr/>
          <p:nvPr/>
        </p:nvSpPr>
        <p:spPr>
          <a:xfrm>
            <a:off x="685800" y="621792"/>
            <a:ext cx="2011680" cy="292608"/>
          </a:xfrm>
          <a:prstGeom prst="roundRect">
            <a:avLst>
              <a:gd name="adj" fmla="val 25000"/>
            </a:avLst>
          </a:prstGeom>
          <a:solidFill>
            <a:srgbClr val="E7B94B"/>
          </a:solidFill>
          <a:ln w="12700">
            <a:solidFill>
              <a:srgbClr val="E7B94B"/>
            </a:solidFill>
            <a:prstDash val="solid"/>
          </a:ln>
          <a:effectLst>
            <a:outerShdw sx="100000" sy="100000" kx="0" ky="0" algn="bl" rotWithShape="0" blurRad="12700" dist="12700" dir="2700000">
              <a:srgbClr val="000000">
                <a:alpha val="6000"/>
              </a:srgbClr>
            </a:outerShdw>
          </a:effectLst>
        </p:spPr>
      </p:sp>
      <p:sp>
        <p:nvSpPr>
          <p:cNvPr id="6" name="Text 3"/>
          <p:cNvSpPr/>
          <p:nvPr/>
        </p:nvSpPr>
        <p:spPr>
          <a:xfrm>
            <a:off x="758952" y="690372"/>
            <a:ext cx="1865376" cy="128016"/>
          </a:xfrm>
          <a:prstGeom prst="rect">
            <a:avLst/>
          </a:prstGeom>
          <a:noFill/>
          <a:ln/>
        </p:spPr>
        <p:txBody>
          <a:bodyPr wrap="square" lIns="0" tIns="0" rIns="0" bIns="0" rtlCol="0" anchor="ctr"/>
          <a:lstStyle/>
          <a:p>
            <a:pPr algn="ctr" indent="0" marL="0">
              <a:buNone/>
            </a:pPr>
            <a:r>
              <a:rPr lang="en-US" sz="950" b="1" dirty="0">
                <a:solidFill>
                  <a:srgbClr val="10375F"/>
                </a:solidFill>
              </a:rPr>
              <a:t>Project Presentation</a:t>
            </a:r>
            <a:endParaRPr lang="en-US" sz="950" dirty="0"/>
          </a:p>
        </p:txBody>
      </p:sp>
      <p:sp>
        <p:nvSpPr>
          <p:cNvPr id="7" name="Text 4"/>
          <p:cNvSpPr/>
          <p:nvPr/>
        </p:nvSpPr>
        <p:spPr>
          <a:xfrm>
            <a:off x="685800" y="1143000"/>
            <a:ext cx="6949440" cy="594360"/>
          </a:xfrm>
          <a:prstGeom prst="rect">
            <a:avLst/>
          </a:prstGeom>
          <a:noFill/>
          <a:ln/>
        </p:spPr>
        <p:txBody>
          <a:bodyPr wrap="square" lIns="0" tIns="0" rIns="0" bIns="0" rtlCol="0" anchor="ctr"/>
          <a:lstStyle/>
          <a:p>
            <a:pPr indent="0" marL="0">
              <a:buNone/>
            </a:pPr>
            <a:r>
              <a:rPr lang="en-US" sz="4000" b="1" dirty="0">
                <a:solidFill>
                  <a:srgbClr val="FFFFFF"/>
                </a:solidFill>
              </a:rPr>
              <a:t>RentalPro RMS</a:t>
            </a:r>
            <a:endParaRPr lang="en-US" sz="4000" dirty="0"/>
          </a:p>
        </p:txBody>
      </p:sp>
      <p:sp>
        <p:nvSpPr>
          <p:cNvPr id="8" name="Text 5"/>
          <p:cNvSpPr/>
          <p:nvPr/>
        </p:nvSpPr>
        <p:spPr>
          <a:xfrm>
            <a:off x="704088" y="1901952"/>
            <a:ext cx="5989320" cy="713232"/>
          </a:xfrm>
          <a:prstGeom prst="rect">
            <a:avLst/>
          </a:prstGeom>
          <a:noFill/>
          <a:ln/>
        </p:spPr>
        <p:txBody>
          <a:bodyPr wrap="square" lIns="0" tIns="0" rIns="0" bIns="0" rtlCol="0" anchor="ctr">
            <a:normAutofit/>
          </a:bodyPr>
          <a:lstStyle/>
          <a:p>
            <a:pPr indent="0" marL="0">
              <a:buNone/>
            </a:pPr>
            <a:r>
              <a:rPr lang="en-US" sz="1850" dirty="0">
                <a:solidFill>
                  <a:srgbClr val="EAF2F9"/>
                </a:solidFill>
              </a:rPr>
              <a:t>A full-stack Rental Management System built with React, ASP.NET Core Web API and SQL Server.</a:t>
            </a:r>
            <a:endParaRPr lang="en-US" sz="1850" dirty="0"/>
          </a:p>
        </p:txBody>
      </p:sp>
      <p:sp>
        <p:nvSpPr>
          <p:cNvPr id="9" name="Shape 6"/>
          <p:cNvSpPr/>
          <p:nvPr/>
        </p:nvSpPr>
        <p:spPr>
          <a:xfrm>
            <a:off x="7635240" y="1143000"/>
            <a:ext cx="3611880" cy="3886200"/>
          </a:xfrm>
          <a:prstGeom prst="roundRect">
            <a:avLst>
              <a:gd name="adj" fmla="val 2025"/>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10" name="Text 7"/>
          <p:cNvSpPr/>
          <p:nvPr/>
        </p:nvSpPr>
        <p:spPr>
          <a:xfrm>
            <a:off x="7863840" y="1344168"/>
            <a:ext cx="315468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Objective</a:t>
            </a:r>
            <a:endParaRPr lang="en-US" sz="1500" dirty="0"/>
          </a:p>
        </p:txBody>
      </p:sp>
      <p:sp>
        <p:nvSpPr>
          <p:cNvPr id="11" name="Text 8"/>
          <p:cNvSpPr/>
          <p:nvPr/>
        </p:nvSpPr>
        <p:spPr>
          <a:xfrm>
            <a:off x="7863840" y="1728216"/>
            <a:ext cx="3154680" cy="3099816"/>
          </a:xfrm>
          <a:prstGeom prst="rect">
            <a:avLst/>
          </a:prstGeom>
          <a:noFill/>
          <a:ln/>
        </p:spPr>
        <p:txBody>
          <a:bodyPr wrap="square" lIns="254" tIns="254" rIns="254" bIns="254" rtlCol="0" anchor="t">
            <a:normAutofit/>
          </a:bodyPr>
          <a:lstStyle/>
          <a:p>
            <a:pPr indent="0" marL="0">
              <a:buNone/>
            </a:pPr>
            <a:r>
              <a:rPr lang="en-US" sz="1600" dirty="0">
                <a:solidFill>
                  <a:srgbClr val="15304A"/>
                </a:solidFill>
              </a:rPr>
              <a:t>To replace scattered rental records with one reliable platform for properties, owners, customers, rentals, sales and payments.</a:t>
            </a:r>
            <a:endParaRPr lang="en-US" sz="1600" dirty="0"/>
          </a:p>
        </p:txBody>
      </p:sp>
      <p:pic>
        <p:nvPicPr>
          <p:cNvPr id="12" name="Image 1" descr="/mnt/data/rentalpro_doc_assets/logo-mark.png">    </p:cNvPr>
          <p:cNvPicPr>
            <a:picLocks noChangeAspect="1"/>
          </p:cNvPicPr>
          <p:nvPr/>
        </p:nvPicPr>
        <p:blipFill>
          <a:blip r:embed="rId2"/>
          <a:stretch>
            <a:fillRect/>
          </a:stretch>
        </p:blipFill>
        <p:spPr>
          <a:xfrm>
            <a:off x="694944" y="5440680"/>
            <a:ext cx="502920" cy="502920"/>
          </a:xfrm>
          <a:prstGeom prst="rect">
            <a:avLst/>
          </a:prstGeom>
        </p:spPr>
      </p:pic>
      <p:sp>
        <p:nvSpPr>
          <p:cNvPr id="13" name="Text 9"/>
          <p:cNvSpPr/>
          <p:nvPr/>
        </p:nvSpPr>
        <p:spPr>
          <a:xfrm>
            <a:off x="1298448" y="5522976"/>
            <a:ext cx="6949440" cy="320040"/>
          </a:xfrm>
          <a:prstGeom prst="rect">
            <a:avLst/>
          </a:prstGeom>
          <a:noFill/>
          <a:ln/>
        </p:spPr>
        <p:txBody>
          <a:bodyPr wrap="square" lIns="0" tIns="0" rIns="0" bIns="0" rtlCol="0" anchor="ctr"/>
          <a:lstStyle/>
          <a:p>
            <a:pPr indent="0" marL="0">
              <a:buNone/>
            </a:pPr>
            <a:r>
              <a:rPr lang="en-US" sz="1250" dirty="0">
                <a:solidFill>
                  <a:srgbClr val="F5FAFF"/>
                </a:solidFill>
              </a:rPr>
              <a:t>Presented as a development story: why we built it, how it works, and what we learned.</a:t>
            </a:r>
            <a:endParaRPr lang="en-US" sz="125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10896"/>
            <a:ext cx="2926080" cy="201168"/>
          </a:xfrm>
          <a:prstGeom prst="rect">
            <a:avLst/>
          </a:prstGeom>
          <a:noFill/>
          <a:ln/>
        </p:spPr>
        <p:txBody>
          <a:bodyPr wrap="square" lIns="0" tIns="0" rIns="0" bIns="0" rtlCol="0" anchor="ctr"/>
          <a:lstStyle/>
          <a:p>
            <a:pPr indent="0" marL="0">
              <a:buNone/>
            </a:pPr>
            <a:r>
              <a:rPr lang="en-US" sz="950" b="1" dirty="0">
                <a:solidFill>
                  <a:srgbClr val="B78314"/>
                </a:solidFill>
              </a:rPr>
              <a:t>Project foundation</a:t>
            </a:r>
            <a:endParaRPr lang="en-US" sz="950" dirty="0"/>
          </a:p>
        </p:txBody>
      </p:sp>
      <p:sp>
        <p:nvSpPr>
          <p:cNvPr id="3" name="Text 1"/>
          <p:cNvSpPr/>
          <p:nvPr/>
        </p:nvSpPr>
        <p:spPr>
          <a:xfrm>
            <a:off x="594360" y="566928"/>
            <a:ext cx="10424160" cy="502920"/>
          </a:xfrm>
          <a:prstGeom prst="rect">
            <a:avLst/>
          </a:prstGeom>
          <a:noFill/>
          <a:ln/>
        </p:spPr>
        <p:txBody>
          <a:bodyPr wrap="square" lIns="0" tIns="0" rIns="0" bIns="0" rtlCol="0" anchor="ctr">
            <a:normAutofit/>
          </a:bodyPr>
          <a:lstStyle/>
          <a:p>
            <a:pPr indent="0" marL="0">
              <a:buNone/>
            </a:pPr>
            <a:r>
              <a:rPr lang="en-US" sz="2550" b="1" dirty="0">
                <a:solidFill>
                  <a:srgbClr val="10375F"/>
                </a:solidFill>
              </a:rPr>
              <a:t>Project title and objective</a:t>
            </a:r>
            <a:endParaRPr lang="en-US" sz="2550" dirty="0"/>
          </a:p>
        </p:txBody>
      </p:sp>
      <p:pic>
        <p:nvPicPr>
          <p:cNvPr id="4" name="Image 0" descr="/mnt/data/rentalpro_doc_assets/logo-mark.png">    </p:cNvPr>
          <p:cNvPicPr>
            <a:picLocks noChangeAspect="1"/>
          </p:cNvPicPr>
          <p:nvPr/>
        </p:nvPicPr>
        <p:blipFill>
          <a:blip r:embed="rId1"/>
          <a:stretch>
            <a:fillRect/>
          </a:stretch>
        </p:blipFill>
        <p:spPr>
          <a:xfrm>
            <a:off x="11109960" y="292608"/>
            <a:ext cx="438912" cy="438912"/>
          </a:xfrm>
          <a:prstGeom prst="rect">
            <a:avLst/>
          </a:prstGeom>
        </p:spPr>
      </p:pic>
      <p:sp>
        <p:nvSpPr>
          <p:cNvPr id="5" name="Shape 2"/>
          <p:cNvSpPr/>
          <p:nvPr/>
        </p:nvSpPr>
        <p:spPr>
          <a:xfrm>
            <a:off x="658368" y="1325880"/>
            <a:ext cx="3657600" cy="4434840"/>
          </a:xfrm>
          <a:prstGeom prst="roundRect">
            <a:avLst>
              <a:gd name="adj" fmla="val 2000"/>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6" name="Text 3"/>
          <p:cNvSpPr/>
          <p:nvPr/>
        </p:nvSpPr>
        <p:spPr>
          <a:xfrm>
            <a:off x="886968" y="1527048"/>
            <a:ext cx="320040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The problem</a:t>
            </a:r>
            <a:endParaRPr lang="en-US" sz="1500" dirty="0"/>
          </a:p>
        </p:txBody>
      </p:sp>
      <p:sp>
        <p:nvSpPr>
          <p:cNvPr id="7" name="Text 4"/>
          <p:cNvSpPr/>
          <p:nvPr/>
        </p:nvSpPr>
        <p:spPr>
          <a:xfrm>
            <a:off x="886968" y="1911096"/>
            <a:ext cx="3200400" cy="3648456"/>
          </a:xfrm>
          <a:prstGeom prst="rect">
            <a:avLst/>
          </a:prstGeom>
          <a:noFill/>
          <a:ln/>
        </p:spPr>
        <p:txBody>
          <a:bodyPr wrap="square" lIns="254" tIns="254" rIns="254" bIns="254" rtlCol="0" anchor="t">
            <a:normAutofit/>
          </a:bodyPr>
          <a:lstStyle/>
          <a:p>
            <a:pPr indent="0" marL="0">
              <a:buNone/>
            </a:pPr>
            <a:r>
              <a:rPr lang="en-US" sz="1350" dirty="0">
                <a:solidFill>
                  <a:srgbClr val="15304A"/>
                </a:solidFill>
              </a:rPr>
              <a:t>Rental operations become difficult when property listings, owner details, customer records, rental contracts, sales records and payments are kept separately. Mistakes happen, reports are slow, and managers cannot see the full business picture.</a:t>
            </a:r>
            <a:endParaRPr lang="en-US" sz="1350" dirty="0"/>
          </a:p>
        </p:txBody>
      </p:sp>
      <p:sp>
        <p:nvSpPr>
          <p:cNvPr id="8" name="Shape 5"/>
          <p:cNvSpPr/>
          <p:nvPr/>
        </p:nvSpPr>
        <p:spPr>
          <a:xfrm>
            <a:off x="4507992" y="1325880"/>
            <a:ext cx="3291840" cy="4434840"/>
          </a:xfrm>
          <a:prstGeom prst="roundRect">
            <a:avLst>
              <a:gd name="adj" fmla="val 2222"/>
            </a:avLst>
          </a:prstGeom>
          <a:solidFill>
            <a:srgbClr val="EAF2F9"/>
          </a:solidFill>
          <a:ln w="12700">
            <a:solidFill>
              <a:srgbClr val="174A7E"/>
            </a:solidFill>
            <a:prstDash val="solid"/>
          </a:ln>
          <a:effectLst>
            <a:outerShdw sx="100000" sy="100000" kx="0" ky="0" algn="bl" rotWithShape="0" blurRad="25400" dist="12700" dir="2700000">
              <a:srgbClr val="000000">
                <a:alpha val="12000"/>
              </a:srgbClr>
            </a:outerShdw>
          </a:effectLst>
        </p:spPr>
      </p:sp>
      <p:sp>
        <p:nvSpPr>
          <p:cNvPr id="9" name="Text 6"/>
          <p:cNvSpPr/>
          <p:nvPr/>
        </p:nvSpPr>
        <p:spPr>
          <a:xfrm>
            <a:off x="4736592" y="1527048"/>
            <a:ext cx="283464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The objective</a:t>
            </a:r>
            <a:endParaRPr lang="en-US" sz="1500" dirty="0"/>
          </a:p>
        </p:txBody>
      </p:sp>
      <p:sp>
        <p:nvSpPr>
          <p:cNvPr id="10" name="Text 7"/>
          <p:cNvSpPr/>
          <p:nvPr/>
        </p:nvSpPr>
        <p:spPr>
          <a:xfrm>
            <a:off x="4736592" y="1911096"/>
            <a:ext cx="2834640" cy="3648456"/>
          </a:xfrm>
          <a:prstGeom prst="rect">
            <a:avLst/>
          </a:prstGeom>
          <a:noFill/>
          <a:ln/>
        </p:spPr>
        <p:txBody>
          <a:bodyPr wrap="square" lIns="254" tIns="254" rIns="254" bIns="254" rtlCol="0" anchor="t">
            <a:normAutofit/>
          </a:bodyPr>
          <a:lstStyle/>
          <a:p>
            <a:pPr indent="0" marL="0">
              <a:buNone/>
            </a:pPr>
            <a:r>
              <a:rPr lang="en-US" sz="1350" dirty="0">
                <a:solidFill>
                  <a:srgbClr val="15304A"/>
                </a:solidFill>
              </a:rPr>
              <a:t>Build a beginner-friendly, real-world full-stack system that collects data from SQL Server through ASP.NET Core APIs and displays it in a responsive React website.</a:t>
            </a:r>
            <a:endParaRPr lang="en-US" sz="1350" dirty="0"/>
          </a:p>
        </p:txBody>
      </p:sp>
      <p:sp>
        <p:nvSpPr>
          <p:cNvPr id="11" name="Shape 8"/>
          <p:cNvSpPr/>
          <p:nvPr/>
        </p:nvSpPr>
        <p:spPr>
          <a:xfrm>
            <a:off x="8001000" y="1325880"/>
            <a:ext cx="3520440" cy="4434840"/>
          </a:xfrm>
          <a:prstGeom prst="roundRect">
            <a:avLst>
              <a:gd name="adj" fmla="val 2078"/>
            </a:avLst>
          </a:prstGeom>
          <a:solidFill>
            <a:srgbClr val="FFF7DF"/>
          </a:solidFill>
          <a:ln w="12700">
            <a:solidFill>
              <a:srgbClr val="E7B94B"/>
            </a:solidFill>
            <a:prstDash val="solid"/>
          </a:ln>
          <a:effectLst>
            <a:outerShdw sx="100000" sy="100000" kx="0" ky="0" algn="bl" rotWithShape="0" blurRad="25400" dist="12700" dir="2700000">
              <a:srgbClr val="000000">
                <a:alpha val="12000"/>
              </a:srgbClr>
            </a:outerShdw>
          </a:effectLst>
        </p:spPr>
      </p:sp>
      <p:sp>
        <p:nvSpPr>
          <p:cNvPr id="12" name="Text 9"/>
          <p:cNvSpPr/>
          <p:nvPr/>
        </p:nvSpPr>
        <p:spPr>
          <a:xfrm>
            <a:off x="8229600" y="1527048"/>
            <a:ext cx="306324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Success criteria</a:t>
            </a:r>
            <a:endParaRPr lang="en-US" sz="1500" dirty="0"/>
          </a:p>
        </p:txBody>
      </p:sp>
      <p:sp>
        <p:nvSpPr>
          <p:cNvPr id="13" name="Text 10"/>
          <p:cNvSpPr/>
          <p:nvPr/>
        </p:nvSpPr>
        <p:spPr>
          <a:xfrm>
            <a:off x="8229600" y="1911096"/>
            <a:ext cx="3063240" cy="3648456"/>
          </a:xfrm>
          <a:prstGeom prst="rect">
            <a:avLst/>
          </a:prstGeom>
          <a:noFill/>
          <a:ln/>
        </p:spPr>
        <p:txBody>
          <a:bodyPr wrap="square" lIns="254" tIns="254" rIns="254" bIns="254" rtlCol="0" anchor="t">
            <a:normAutofit/>
          </a:bodyPr>
          <a:lstStyle/>
          <a:p>
            <a:pPr indent="0" marL="0">
              <a:buNone/>
            </a:pPr>
            <a:r>
              <a:rPr lang="en-US" sz="1280" dirty="0">
                <a:solidFill>
                  <a:srgbClr val="15304A"/>
                </a:solidFill>
              </a:rPr>
              <a:t>• User can manage every core module</a:t>
            </a:r>
            <a:endParaRPr lang="en-US" sz="1280" dirty="0"/>
          </a:p>
          <a:p>
            <a:pPr indent="0" marL="0">
              <a:buNone/>
            </a:pPr>
            <a:r>
              <a:rPr lang="en-US" sz="1280" dirty="0">
                <a:solidFill>
                  <a:srgbClr val="15304A"/>
                </a:solidFill>
              </a:rPr>
              <a:t>• Data is stored in SQL Server</a:t>
            </a:r>
            <a:endParaRPr lang="en-US" sz="1280" dirty="0"/>
          </a:p>
          <a:p>
            <a:pPr indent="0" marL="0">
              <a:buNone/>
            </a:pPr>
            <a:r>
              <a:rPr lang="en-US" sz="1280" dirty="0">
                <a:solidFill>
                  <a:srgbClr val="15304A"/>
                </a:solidFill>
              </a:rPr>
              <a:t>• API can be tested in Swagger</a:t>
            </a:r>
            <a:endParaRPr lang="en-US" sz="1280" dirty="0"/>
          </a:p>
          <a:p>
            <a:pPr indent="0" marL="0">
              <a:buNone/>
            </a:pPr>
            <a:r>
              <a:rPr lang="en-US" sz="1280" dirty="0">
                <a:solidFill>
                  <a:srgbClr val="15304A"/>
                </a:solidFill>
              </a:rPr>
              <a:t>• React pages call live API data</a:t>
            </a:r>
            <a:endParaRPr lang="en-US" sz="1280" dirty="0"/>
          </a:p>
          <a:p>
            <a:pPr indent="0" marL="0">
              <a:buNone/>
            </a:pPr>
            <a:r>
              <a:rPr lang="en-US" sz="1280" dirty="0">
                <a:solidFill>
                  <a:srgbClr val="15304A"/>
                </a:solidFill>
              </a:rPr>
              <a:t>• Final website can be served from ASP.NET Core using wwwroot</a:t>
            </a:r>
            <a:endParaRPr lang="en-US" sz="128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10896"/>
            <a:ext cx="2926080" cy="201168"/>
          </a:xfrm>
          <a:prstGeom prst="rect">
            <a:avLst/>
          </a:prstGeom>
          <a:noFill/>
          <a:ln/>
        </p:spPr>
        <p:txBody>
          <a:bodyPr wrap="square" lIns="0" tIns="0" rIns="0" bIns="0" rtlCol="0" anchor="ctr"/>
          <a:lstStyle/>
          <a:p>
            <a:pPr indent="0" marL="0">
              <a:buNone/>
            </a:pPr>
            <a:r>
              <a:rPr lang="en-US" sz="950" b="1" dirty="0">
                <a:solidFill>
                  <a:srgbClr val="B78314"/>
                </a:solidFill>
              </a:rPr>
              <a:t>What RentalPro RMS can do</a:t>
            </a:r>
            <a:endParaRPr lang="en-US" sz="950" dirty="0"/>
          </a:p>
        </p:txBody>
      </p:sp>
      <p:sp>
        <p:nvSpPr>
          <p:cNvPr id="3" name="Text 1"/>
          <p:cNvSpPr/>
          <p:nvPr/>
        </p:nvSpPr>
        <p:spPr>
          <a:xfrm>
            <a:off x="594360" y="566928"/>
            <a:ext cx="10424160" cy="502920"/>
          </a:xfrm>
          <a:prstGeom prst="rect">
            <a:avLst/>
          </a:prstGeom>
          <a:noFill/>
          <a:ln/>
        </p:spPr>
        <p:txBody>
          <a:bodyPr wrap="square" lIns="0" tIns="0" rIns="0" bIns="0" rtlCol="0" anchor="ctr">
            <a:normAutofit/>
          </a:bodyPr>
          <a:lstStyle/>
          <a:p>
            <a:pPr indent="0" marL="0">
              <a:buNone/>
            </a:pPr>
            <a:r>
              <a:rPr lang="en-US" sz="2550" b="1" dirty="0">
                <a:solidFill>
                  <a:srgbClr val="10375F"/>
                </a:solidFill>
              </a:rPr>
              <a:t>System features</a:t>
            </a:r>
            <a:endParaRPr lang="en-US" sz="2550" dirty="0"/>
          </a:p>
        </p:txBody>
      </p:sp>
      <p:pic>
        <p:nvPicPr>
          <p:cNvPr id="4" name="Image 0" descr="/mnt/data/rentalpro_doc_assets/logo-mark.png">    </p:cNvPr>
          <p:cNvPicPr>
            <a:picLocks noChangeAspect="1"/>
          </p:cNvPicPr>
          <p:nvPr/>
        </p:nvPicPr>
        <p:blipFill>
          <a:blip r:embed="rId1"/>
          <a:stretch>
            <a:fillRect/>
          </a:stretch>
        </p:blipFill>
        <p:spPr>
          <a:xfrm>
            <a:off x="11109960" y="292608"/>
            <a:ext cx="438912" cy="438912"/>
          </a:xfrm>
          <a:prstGeom prst="rect">
            <a:avLst/>
          </a:prstGeom>
        </p:spPr>
      </p:pic>
      <p:sp>
        <p:nvSpPr>
          <p:cNvPr id="5" name="Shape 2"/>
          <p:cNvSpPr/>
          <p:nvPr/>
        </p:nvSpPr>
        <p:spPr>
          <a:xfrm>
            <a:off x="594360" y="1234440"/>
            <a:ext cx="2423160" cy="1280160"/>
          </a:xfrm>
          <a:prstGeom prst="roundRect">
            <a:avLst>
              <a:gd name="adj" fmla="val 5714"/>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6" name="Text 3"/>
          <p:cNvSpPr/>
          <p:nvPr/>
        </p:nvSpPr>
        <p:spPr>
          <a:xfrm>
            <a:off x="822960" y="1435608"/>
            <a:ext cx="19659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Properties</a:t>
            </a:r>
            <a:endParaRPr lang="en-US" sz="1500" dirty="0"/>
          </a:p>
        </p:txBody>
      </p:sp>
      <p:sp>
        <p:nvSpPr>
          <p:cNvPr id="7" name="Text 4"/>
          <p:cNvSpPr/>
          <p:nvPr/>
        </p:nvSpPr>
        <p:spPr>
          <a:xfrm>
            <a:off x="822960" y="1819656"/>
            <a:ext cx="1965960" cy="493776"/>
          </a:xfrm>
          <a:prstGeom prst="rect">
            <a:avLst/>
          </a:prstGeom>
          <a:noFill/>
          <a:ln/>
        </p:spPr>
        <p:txBody>
          <a:bodyPr wrap="square" lIns="254" tIns="254" rIns="254" bIns="254" rtlCol="0" anchor="t">
            <a:normAutofit/>
          </a:bodyPr>
          <a:lstStyle/>
          <a:p>
            <a:pPr indent="0" marL="0">
              <a:buNone/>
            </a:pPr>
            <a:r>
              <a:rPr lang="en-US" sz="1080" dirty="0">
                <a:solidFill>
                  <a:srgbClr val="15304A"/>
                </a:solidFill>
              </a:rPr>
              <a:t>Create, edit, search and classify available, rented or sold properties.</a:t>
            </a:r>
            <a:endParaRPr lang="en-US" sz="1080" dirty="0"/>
          </a:p>
        </p:txBody>
      </p:sp>
      <p:sp>
        <p:nvSpPr>
          <p:cNvPr id="8" name="Shape 5"/>
          <p:cNvSpPr/>
          <p:nvPr/>
        </p:nvSpPr>
        <p:spPr>
          <a:xfrm>
            <a:off x="3182112" y="1234440"/>
            <a:ext cx="2423160" cy="1280160"/>
          </a:xfrm>
          <a:prstGeom prst="roundRect">
            <a:avLst>
              <a:gd name="adj" fmla="val 5714"/>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9" name="Text 6"/>
          <p:cNvSpPr/>
          <p:nvPr/>
        </p:nvSpPr>
        <p:spPr>
          <a:xfrm>
            <a:off x="3410712" y="1435608"/>
            <a:ext cx="19659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Owners</a:t>
            </a:r>
            <a:endParaRPr lang="en-US" sz="1500" dirty="0"/>
          </a:p>
        </p:txBody>
      </p:sp>
      <p:sp>
        <p:nvSpPr>
          <p:cNvPr id="10" name="Text 7"/>
          <p:cNvSpPr/>
          <p:nvPr/>
        </p:nvSpPr>
        <p:spPr>
          <a:xfrm>
            <a:off x="3410712" y="1819656"/>
            <a:ext cx="1965960" cy="493776"/>
          </a:xfrm>
          <a:prstGeom prst="rect">
            <a:avLst/>
          </a:prstGeom>
          <a:noFill/>
          <a:ln/>
        </p:spPr>
        <p:txBody>
          <a:bodyPr wrap="square" lIns="254" tIns="254" rIns="254" bIns="254" rtlCol="0" anchor="t">
            <a:normAutofit/>
          </a:bodyPr>
          <a:lstStyle/>
          <a:p>
            <a:pPr indent="0" marL="0">
              <a:buNone/>
            </a:pPr>
            <a:r>
              <a:rPr lang="en-US" sz="1080" dirty="0">
                <a:solidFill>
                  <a:srgbClr val="15304A"/>
                </a:solidFill>
              </a:rPr>
              <a:t>Store verified owner contact and address records.</a:t>
            </a:r>
            <a:endParaRPr lang="en-US" sz="1080" dirty="0"/>
          </a:p>
        </p:txBody>
      </p:sp>
      <p:sp>
        <p:nvSpPr>
          <p:cNvPr id="11" name="Shape 8"/>
          <p:cNvSpPr/>
          <p:nvPr/>
        </p:nvSpPr>
        <p:spPr>
          <a:xfrm>
            <a:off x="5769864" y="1234440"/>
            <a:ext cx="2423160" cy="1280160"/>
          </a:xfrm>
          <a:prstGeom prst="roundRect">
            <a:avLst>
              <a:gd name="adj" fmla="val 5714"/>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12" name="Text 9"/>
          <p:cNvSpPr/>
          <p:nvPr/>
        </p:nvSpPr>
        <p:spPr>
          <a:xfrm>
            <a:off x="5998464" y="1435608"/>
            <a:ext cx="19659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Customers</a:t>
            </a:r>
            <a:endParaRPr lang="en-US" sz="1500" dirty="0"/>
          </a:p>
        </p:txBody>
      </p:sp>
      <p:sp>
        <p:nvSpPr>
          <p:cNvPr id="13" name="Text 10"/>
          <p:cNvSpPr/>
          <p:nvPr/>
        </p:nvSpPr>
        <p:spPr>
          <a:xfrm>
            <a:off x="5998464" y="1819656"/>
            <a:ext cx="1965960" cy="493776"/>
          </a:xfrm>
          <a:prstGeom prst="rect">
            <a:avLst/>
          </a:prstGeom>
          <a:noFill/>
          <a:ln/>
        </p:spPr>
        <p:txBody>
          <a:bodyPr wrap="square" lIns="254" tIns="254" rIns="254" bIns="254" rtlCol="0" anchor="t">
            <a:normAutofit/>
          </a:bodyPr>
          <a:lstStyle/>
          <a:p>
            <a:pPr indent="0" marL="0">
              <a:buNone/>
            </a:pPr>
            <a:r>
              <a:rPr lang="en-US" sz="1080" dirty="0">
                <a:solidFill>
                  <a:srgbClr val="15304A"/>
                </a:solidFill>
              </a:rPr>
              <a:t>Manage tenants and buyers with contact details.</a:t>
            </a:r>
            <a:endParaRPr lang="en-US" sz="1080" dirty="0"/>
          </a:p>
        </p:txBody>
      </p:sp>
      <p:sp>
        <p:nvSpPr>
          <p:cNvPr id="14" name="Shape 11"/>
          <p:cNvSpPr/>
          <p:nvPr/>
        </p:nvSpPr>
        <p:spPr>
          <a:xfrm>
            <a:off x="8357616" y="1234440"/>
            <a:ext cx="2423160" cy="1280160"/>
          </a:xfrm>
          <a:prstGeom prst="roundRect">
            <a:avLst>
              <a:gd name="adj" fmla="val 5714"/>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15" name="Text 12"/>
          <p:cNvSpPr/>
          <p:nvPr/>
        </p:nvSpPr>
        <p:spPr>
          <a:xfrm>
            <a:off x="8586216" y="1435608"/>
            <a:ext cx="19659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Apartments</a:t>
            </a:r>
            <a:endParaRPr lang="en-US" sz="1500" dirty="0"/>
          </a:p>
        </p:txBody>
      </p:sp>
      <p:sp>
        <p:nvSpPr>
          <p:cNvPr id="16" name="Text 13"/>
          <p:cNvSpPr/>
          <p:nvPr/>
        </p:nvSpPr>
        <p:spPr>
          <a:xfrm>
            <a:off x="8586216" y="1819656"/>
            <a:ext cx="1965960" cy="493776"/>
          </a:xfrm>
          <a:prstGeom prst="rect">
            <a:avLst/>
          </a:prstGeom>
          <a:noFill/>
          <a:ln/>
        </p:spPr>
        <p:txBody>
          <a:bodyPr wrap="square" lIns="254" tIns="254" rIns="254" bIns="254" rtlCol="0" anchor="t">
            <a:normAutofit/>
          </a:bodyPr>
          <a:lstStyle/>
          <a:p>
            <a:pPr indent="0" marL="0">
              <a:buNone/>
            </a:pPr>
            <a:r>
              <a:rPr lang="en-US" sz="1080" dirty="0">
                <a:solidFill>
                  <a:srgbClr val="15304A"/>
                </a:solidFill>
              </a:rPr>
              <a:t>Show apartment-only records from the Properties table.</a:t>
            </a:r>
            <a:endParaRPr lang="en-US" sz="1080" dirty="0"/>
          </a:p>
        </p:txBody>
      </p:sp>
      <p:sp>
        <p:nvSpPr>
          <p:cNvPr id="17" name="Shape 14"/>
          <p:cNvSpPr/>
          <p:nvPr/>
        </p:nvSpPr>
        <p:spPr>
          <a:xfrm>
            <a:off x="594360" y="2816352"/>
            <a:ext cx="2423160" cy="1280160"/>
          </a:xfrm>
          <a:prstGeom prst="roundRect">
            <a:avLst>
              <a:gd name="adj" fmla="val 5714"/>
            </a:avLst>
          </a:prstGeom>
          <a:solidFill>
            <a:srgbClr val="EAF2F9"/>
          </a:solidFill>
          <a:ln w="12700">
            <a:solidFill>
              <a:srgbClr val="174A7E"/>
            </a:solidFill>
            <a:prstDash val="solid"/>
          </a:ln>
          <a:effectLst>
            <a:outerShdw sx="100000" sy="100000" kx="0" ky="0" algn="bl" rotWithShape="0" blurRad="25400" dist="12700" dir="2700000">
              <a:srgbClr val="000000">
                <a:alpha val="12000"/>
              </a:srgbClr>
            </a:outerShdw>
          </a:effectLst>
        </p:spPr>
      </p:sp>
      <p:sp>
        <p:nvSpPr>
          <p:cNvPr id="18" name="Text 15"/>
          <p:cNvSpPr/>
          <p:nvPr/>
        </p:nvSpPr>
        <p:spPr>
          <a:xfrm>
            <a:off x="822960" y="3017520"/>
            <a:ext cx="19659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Rentals</a:t>
            </a:r>
            <a:endParaRPr lang="en-US" sz="1500" dirty="0"/>
          </a:p>
        </p:txBody>
      </p:sp>
      <p:sp>
        <p:nvSpPr>
          <p:cNvPr id="19" name="Text 16"/>
          <p:cNvSpPr/>
          <p:nvPr/>
        </p:nvSpPr>
        <p:spPr>
          <a:xfrm>
            <a:off x="822960" y="3401568"/>
            <a:ext cx="1965960" cy="493776"/>
          </a:xfrm>
          <a:prstGeom prst="rect">
            <a:avLst/>
          </a:prstGeom>
          <a:noFill/>
          <a:ln/>
        </p:spPr>
        <p:txBody>
          <a:bodyPr wrap="square" lIns="254" tIns="254" rIns="254" bIns="254" rtlCol="0" anchor="t">
            <a:normAutofit/>
          </a:bodyPr>
          <a:lstStyle/>
          <a:p>
            <a:pPr indent="0" marL="0">
              <a:buNone/>
            </a:pPr>
            <a:r>
              <a:rPr lang="en-US" sz="1080" dirty="0">
                <a:solidFill>
                  <a:srgbClr val="15304A"/>
                </a:solidFill>
              </a:rPr>
              <a:t>Link property + customer + dates + amount + status.</a:t>
            </a:r>
            <a:endParaRPr lang="en-US" sz="1080" dirty="0"/>
          </a:p>
        </p:txBody>
      </p:sp>
      <p:sp>
        <p:nvSpPr>
          <p:cNvPr id="20" name="Shape 17"/>
          <p:cNvSpPr/>
          <p:nvPr/>
        </p:nvSpPr>
        <p:spPr>
          <a:xfrm>
            <a:off x="3182112" y="2816352"/>
            <a:ext cx="2423160" cy="1280160"/>
          </a:xfrm>
          <a:prstGeom prst="roundRect">
            <a:avLst>
              <a:gd name="adj" fmla="val 5714"/>
            </a:avLst>
          </a:prstGeom>
          <a:solidFill>
            <a:srgbClr val="EAF2F9"/>
          </a:solidFill>
          <a:ln w="12700">
            <a:solidFill>
              <a:srgbClr val="174A7E"/>
            </a:solidFill>
            <a:prstDash val="solid"/>
          </a:ln>
          <a:effectLst>
            <a:outerShdw sx="100000" sy="100000" kx="0" ky="0" algn="bl" rotWithShape="0" blurRad="25400" dist="12700" dir="2700000">
              <a:srgbClr val="000000">
                <a:alpha val="12000"/>
              </a:srgbClr>
            </a:outerShdw>
          </a:effectLst>
        </p:spPr>
      </p:sp>
      <p:sp>
        <p:nvSpPr>
          <p:cNvPr id="21" name="Text 18"/>
          <p:cNvSpPr/>
          <p:nvPr/>
        </p:nvSpPr>
        <p:spPr>
          <a:xfrm>
            <a:off x="3410712" y="3017520"/>
            <a:ext cx="19659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Sales</a:t>
            </a:r>
            <a:endParaRPr lang="en-US" sz="1500" dirty="0"/>
          </a:p>
        </p:txBody>
      </p:sp>
      <p:sp>
        <p:nvSpPr>
          <p:cNvPr id="22" name="Text 19"/>
          <p:cNvSpPr/>
          <p:nvPr/>
        </p:nvSpPr>
        <p:spPr>
          <a:xfrm>
            <a:off x="3410712" y="3401568"/>
            <a:ext cx="1965960" cy="493776"/>
          </a:xfrm>
          <a:prstGeom prst="rect">
            <a:avLst/>
          </a:prstGeom>
          <a:noFill/>
          <a:ln/>
        </p:spPr>
        <p:txBody>
          <a:bodyPr wrap="square" lIns="254" tIns="254" rIns="254" bIns="254" rtlCol="0" anchor="t">
            <a:normAutofit/>
          </a:bodyPr>
          <a:lstStyle/>
          <a:p>
            <a:pPr indent="0" marL="0">
              <a:buNone/>
            </a:pPr>
            <a:r>
              <a:rPr lang="en-US" sz="1080" dirty="0">
                <a:solidFill>
                  <a:srgbClr val="15304A"/>
                </a:solidFill>
              </a:rPr>
              <a:t>Track sale price, paid amount and remaining balance.</a:t>
            </a:r>
            <a:endParaRPr lang="en-US" sz="1080" dirty="0"/>
          </a:p>
        </p:txBody>
      </p:sp>
      <p:sp>
        <p:nvSpPr>
          <p:cNvPr id="23" name="Shape 20"/>
          <p:cNvSpPr/>
          <p:nvPr/>
        </p:nvSpPr>
        <p:spPr>
          <a:xfrm>
            <a:off x="5769864" y="2816352"/>
            <a:ext cx="2423160" cy="1280160"/>
          </a:xfrm>
          <a:prstGeom prst="roundRect">
            <a:avLst>
              <a:gd name="adj" fmla="val 5714"/>
            </a:avLst>
          </a:prstGeom>
          <a:solidFill>
            <a:srgbClr val="EAF2F9"/>
          </a:solidFill>
          <a:ln w="12700">
            <a:solidFill>
              <a:srgbClr val="174A7E"/>
            </a:solidFill>
            <a:prstDash val="solid"/>
          </a:ln>
          <a:effectLst>
            <a:outerShdw sx="100000" sy="100000" kx="0" ky="0" algn="bl" rotWithShape="0" blurRad="25400" dist="12700" dir="2700000">
              <a:srgbClr val="000000">
                <a:alpha val="12000"/>
              </a:srgbClr>
            </a:outerShdw>
          </a:effectLst>
        </p:spPr>
      </p:sp>
      <p:sp>
        <p:nvSpPr>
          <p:cNvPr id="24" name="Text 21"/>
          <p:cNvSpPr/>
          <p:nvPr/>
        </p:nvSpPr>
        <p:spPr>
          <a:xfrm>
            <a:off x="5998464" y="3017520"/>
            <a:ext cx="19659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Payments</a:t>
            </a:r>
            <a:endParaRPr lang="en-US" sz="1500" dirty="0"/>
          </a:p>
        </p:txBody>
      </p:sp>
      <p:sp>
        <p:nvSpPr>
          <p:cNvPr id="25" name="Text 22"/>
          <p:cNvSpPr/>
          <p:nvPr/>
        </p:nvSpPr>
        <p:spPr>
          <a:xfrm>
            <a:off x="5998464" y="3401568"/>
            <a:ext cx="1965960" cy="493776"/>
          </a:xfrm>
          <a:prstGeom prst="rect">
            <a:avLst/>
          </a:prstGeom>
          <a:noFill/>
          <a:ln/>
        </p:spPr>
        <p:txBody>
          <a:bodyPr wrap="square" lIns="254" tIns="254" rIns="254" bIns="254" rtlCol="0" anchor="t">
            <a:normAutofit/>
          </a:bodyPr>
          <a:lstStyle/>
          <a:p>
            <a:pPr indent="0" marL="0">
              <a:buNone/>
            </a:pPr>
            <a:r>
              <a:rPr lang="en-US" sz="1080" dirty="0">
                <a:solidFill>
                  <a:srgbClr val="15304A"/>
                </a:solidFill>
              </a:rPr>
              <a:t>Record rent and sale payments with balances and notes.</a:t>
            </a:r>
            <a:endParaRPr lang="en-US" sz="1080" dirty="0"/>
          </a:p>
        </p:txBody>
      </p:sp>
      <p:sp>
        <p:nvSpPr>
          <p:cNvPr id="26" name="Shape 23"/>
          <p:cNvSpPr/>
          <p:nvPr/>
        </p:nvSpPr>
        <p:spPr>
          <a:xfrm>
            <a:off x="8357616" y="2816352"/>
            <a:ext cx="2423160" cy="1280160"/>
          </a:xfrm>
          <a:prstGeom prst="roundRect">
            <a:avLst>
              <a:gd name="adj" fmla="val 5714"/>
            </a:avLst>
          </a:prstGeom>
          <a:solidFill>
            <a:srgbClr val="EAF2F9"/>
          </a:solidFill>
          <a:ln w="12700">
            <a:solidFill>
              <a:srgbClr val="174A7E"/>
            </a:solidFill>
            <a:prstDash val="solid"/>
          </a:ln>
          <a:effectLst>
            <a:outerShdw sx="100000" sy="100000" kx="0" ky="0" algn="bl" rotWithShape="0" blurRad="25400" dist="12700" dir="2700000">
              <a:srgbClr val="000000">
                <a:alpha val="12000"/>
              </a:srgbClr>
            </a:outerShdw>
          </a:effectLst>
        </p:spPr>
      </p:sp>
      <p:sp>
        <p:nvSpPr>
          <p:cNvPr id="27" name="Text 24"/>
          <p:cNvSpPr/>
          <p:nvPr/>
        </p:nvSpPr>
        <p:spPr>
          <a:xfrm>
            <a:off x="8586216" y="3017520"/>
            <a:ext cx="19659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Reports</a:t>
            </a:r>
            <a:endParaRPr lang="en-US" sz="1500" dirty="0"/>
          </a:p>
        </p:txBody>
      </p:sp>
      <p:sp>
        <p:nvSpPr>
          <p:cNvPr id="28" name="Text 25"/>
          <p:cNvSpPr/>
          <p:nvPr/>
        </p:nvSpPr>
        <p:spPr>
          <a:xfrm>
            <a:off x="8586216" y="3401568"/>
            <a:ext cx="1965960" cy="493776"/>
          </a:xfrm>
          <a:prstGeom prst="rect">
            <a:avLst/>
          </a:prstGeom>
          <a:noFill/>
          <a:ln/>
        </p:spPr>
        <p:txBody>
          <a:bodyPr wrap="square" lIns="254" tIns="254" rIns="254" bIns="254" rtlCol="0" anchor="t">
            <a:normAutofit/>
          </a:bodyPr>
          <a:lstStyle/>
          <a:p>
            <a:pPr indent="0" marL="0">
              <a:buNone/>
            </a:pPr>
            <a:r>
              <a:rPr lang="en-US" sz="1080" dirty="0">
                <a:solidFill>
                  <a:srgbClr val="15304A"/>
                </a:solidFill>
              </a:rPr>
              <a:t>Dashboard totals, recent records and management summaries.</a:t>
            </a:r>
            <a:endParaRPr lang="en-US" sz="1080" dirty="0"/>
          </a:p>
        </p:txBody>
      </p:sp>
      <p:sp>
        <p:nvSpPr>
          <p:cNvPr id="29" name="Shape 26"/>
          <p:cNvSpPr/>
          <p:nvPr/>
        </p:nvSpPr>
        <p:spPr>
          <a:xfrm>
            <a:off x="1417320" y="4956048"/>
            <a:ext cx="9326880" cy="292608"/>
          </a:xfrm>
          <a:prstGeom prst="roundRect">
            <a:avLst>
              <a:gd name="adj" fmla="val 25000"/>
            </a:avLst>
          </a:prstGeom>
          <a:solidFill>
            <a:srgbClr val="E7B94B"/>
          </a:solidFill>
          <a:ln w="12700">
            <a:solidFill>
              <a:srgbClr val="E7B94B"/>
            </a:solidFill>
            <a:prstDash val="solid"/>
          </a:ln>
          <a:effectLst>
            <a:outerShdw sx="100000" sy="100000" kx="0" ky="0" algn="bl" rotWithShape="0" blurRad="12700" dist="12700" dir="2700000">
              <a:srgbClr val="000000">
                <a:alpha val="6000"/>
              </a:srgbClr>
            </a:outerShdw>
          </a:effectLst>
        </p:spPr>
      </p:sp>
      <p:sp>
        <p:nvSpPr>
          <p:cNvPr id="30" name="Text 27"/>
          <p:cNvSpPr/>
          <p:nvPr/>
        </p:nvSpPr>
        <p:spPr>
          <a:xfrm>
            <a:off x="1490472" y="5024628"/>
            <a:ext cx="9180576" cy="128016"/>
          </a:xfrm>
          <a:prstGeom prst="rect">
            <a:avLst/>
          </a:prstGeom>
          <a:noFill/>
          <a:ln/>
        </p:spPr>
        <p:txBody>
          <a:bodyPr wrap="square" lIns="0" tIns="0" rIns="0" bIns="0" rtlCol="0" anchor="ctr"/>
          <a:lstStyle/>
          <a:p>
            <a:pPr algn="ctr" indent="0" marL="0">
              <a:buNone/>
            </a:pPr>
            <a:r>
              <a:rPr lang="en-US" sz="950" b="1" dirty="0">
                <a:solidFill>
                  <a:srgbClr val="10375F"/>
                </a:solidFill>
              </a:rPr>
              <a:t>Four main website navigations: Home • Management Works • About • Contact</a:t>
            </a:r>
            <a:endParaRPr lang="en-US" sz="95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10896"/>
            <a:ext cx="2926080" cy="201168"/>
          </a:xfrm>
          <a:prstGeom prst="rect">
            <a:avLst/>
          </a:prstGeom>
          <a:noFill/>
          <a:ln/>
        </p:spPr>
        <p:txBody>
          <a:bodyPr wrap="square" lIns="0" tIns="0" rIns="0" bIns="0" rtlCol="0" anchor="ctr"/>
          <a:lstStyle/>
          <a:p>
            <a:pPr indent="0" marL="0">
              <a:buNone/>
            </a:pPr>
            <a:r>
              <a:rPr lang="en-US" sz="950" b="1" dirty="0">
                <a:solidFill>
                  <a:srgbClr val="B78314"/>
                </a:solidFill>
              </a:rPr>
              <a:t>Stack overview</a:t>
            </a:r>
            <a:endParaRPr lang="en-US" sz="950" dirty="0"/>
          </a:p>
        </p:txBody>
      </p:sp>
      <p:sp>
        <p:nvSpPr>
          <p:cNvPr id="3" name="Text 1"/>
          <p:cNvSpPr/>
          <p:nvPr/>
        </p:nvSpPr>
        <p:spPr>
          <a:xfrm>
            <a:off x="594360" y="566928"/>
            <a:ext cx="10424160" cy="502920"/>
          </a:xfrm>
          <a:prstGeom prst="rect">
            <a:avLst/>
          </a:prstGeom>
          <a:noFill/>
          <a:ln/>
        </p:spPr>
        <p:txBody>
          <a:bodyPr wrap="square" lIns="0" tIns="0" rIns="0" bIns="0" rtlCol="0" anchor="ctr">
            <a:normAutofit/>
          </a:bodyPr>
          <a:lstStyle/>
          <a:p>
            <a:pPr indent="0" marL="0">
              <a:buNone/>
            </a:pPr>
            <a:r>
              <a:rPr lang="en-US" sz="2550" b="1" dirty="0">
                <a:solidFill>
                  <a:srgbClr val="10375F"/>
                </a:solidFill>
              </a:rPr>
              <a:t>Technologies used</a:t>
            </a:r>
            <a:endParaRPr lang="en-US" sz="2550" dirty="0"/>
          </a:p>
        </p:txBody>
      </p:sp>
      <p:pic>
        <p:nvPicPr>
          <p:cNvPr id="4" name="Image 0" descr="/mnt/data/rentalpro_doc_assets/logo-mark.png">    </p:cNvPr>
          <p:cNvPicPr>
            <a:picLocks noChangeAspect="1"/>
          </p:cNvPicPr>
          <p:nvPr/>
        </p:nvPicPr>
        <p:blipFill>
          <a:blip r:embed="rId1"/>
          <a:stretch>
            <a:fillRect/>
          </a:stretch>
        </p:blipFill>
        <p:spPr>
          <a:xfrm>
            <a:off x="11109960" y="292608"/>
            <a:ext cx="438912" cy="438912"/>
          </a:xfrm>
          <a:prstGeom prst="rect">
            <a:avLst/>
          </a:prstGeom>
        </p:spPr>
      </p:pic>
      <p:sp>
        <p:nvSpPr>
          <p:cNvPr id="5" name="Shape 2"/>
          <p:cNvSpPr/>
          <p:nvPr/>
        </p:nvSpPr>
        <p:spPr>
          <a:xfrm>
            <a:off x="749808" y="1325880"/>
            <a:ext cx="3200400" cy="4389120"/>
          </a:xfrm>
          <a:prstGeom prst="roundRect">
            <a:avLst>
              <a:gd name="adj" fmla="val 2286"/>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6" name="Text 3"/>
          <p:cNvSpPr/>
          <p:nvPr/>
        </p:nvSpPr>
        <p:spPr>
          <a:xfrm>
            <a:off x="978408" y="1527048"/>
            <a:ext cx="2743200" cy="256032"/>
          </a:xfrm>
          <a:prstGeom prst="rect">
            <a:avLst/>
          </a:prstGeom>
          <a:noFill/>
          <a:ln/>
        </p:spPr>
        <p:txBody>
          <a:bodyPr wrap="square" lIns="0" tIns="0" rIns="0" bIns="0" rtlCol="0" anchor="ctr">
            <a:normAutofit/>
          </a:bodyPr>
          <a:lstStyle/>
          <a:p>
            <a:pPr indent="0" marL="0">
              <a:buNone/>
            </a:pPr>
            <a:r>
              <a:rPr lang="en-US" sz="1500" b="1" dirty="0">
                <a:solidFill>
                  <a:srgbClr val="174A7E"/>
                </a:solidFill>
              </a:rPr>
              <a:t>Frontend</a:t>
            </a:r>
            <a:endParaRPr lang="en-US" sz="1500" dirty="0"/>
          </a:p>
        </p:txBody>
      </p:sp>
      <p:sp>
        <p:nvSpPr>
          <p:cNvPr id="7" name="Text 4"/>
          <p:cNvSpPr/>
          <p:nvPr/>
        </p:nvSpPr>
        <p:spPr>
          <a:xfrm>
            <a:off x="978408" y="1911096"/>
            <a:ext cx="2743200" cy="3602736"/>
          </a:xfrm>
          <a:prstGeom prst="rect">
            <a:avLst/>
          </a:prstGeom>
          <a:noFill/>
          <a:ln/>
        </p:spPr>
        <p:txBody>
          <a:bodyPr wrap="square" lIns="254" tIns="254" rIns="254" bIns="254" rtlCol="0" anchor="t">
            <a:normAutofit/>
          </a:bodyPr>
          <a:lstStyle/>
          <a:p>
            <a:pPr indent="0" marL="0">
              <a:buNone/>
            </a:pPr>
            <a:r>
              <a:rPr lang="en-US" sz="1500" dirty="0">
                <a:solidFill>
                  <a:srgbClr val="15304A"/>
                </a:solidFill>
              </a:rPr>
              <a:t>React + Vite</a:t>
            </a:r>
            <a:endParaRPr lang="en-US" sz="1500" dirty="0"/>
          </a:p>
          <a:p>
            <a:pPr indent="0" marL="0">
              <a:buNone/>
            </a:pPr>
            <a:r>
              <a:rPr lang="en-US" sz="1500" dirty="0">
                <a:solidFill>
                  <a:srgbClr val="15304A"/>
                </a:solidFill>
              </a:rPr>
              <a:t>React Router</a:t>
            </a:r>
            <a:endParaRPr lang="en-US" sz="1500" dirty="0"/>
          </a:p>
          <a:p>
            <a:pPr indent="0" marL="0">
              <a:buNone/>
            </a:pPr>
            <a:r>
              <a:rPr lang="en-US" sz="1500" dirty="0">
                <a:solidFill>
                  <a:srgbClr val="15304A"/>
                </a:solidFill>
              </a:rPr>
              <a:t>Axios</a:t>
            </a:r>
            <a:endParaRPr lang="en-US" sz="1500" dirty="0"/>
          </a:p>
          <a:p>
            <a:pPr indent="0" marL="0">
              <a:buNone/>
            </a:pPr>
            <a:r>
              <a:rPr lang="en-US" sz="1500" dirty="0">
                <a:solidFill>
                  <a:srgbClr val="15304A"/>
                </a:solidFill>
              </a:rPr>
              <a:t>CSS responsive UI</a:t>
            </a:r>
            <a:endParaRPr lang="en-US" sz="1500" dirty="0"/>
          </a:p>
          <a:p>
            <a:pPr indent="0" marL="0">
              <a:buNone/>
            </a:pPr>
            <a:r>
              <a:rPr lang="en-US" sz="1500" dirty="0">
                <a:solidFill>
                  <a:srgbClr val="15304A"/>
                </a:solidFill>
              </a:rPr>
              <a:t>wwwroot production build</a:t>
            </a:r>
            <a:endParaRPr lang="en-US" sz="1500" dirty="0"/>
          </a:p>
        </p:txBody>
      </p:sp>
      <p:sp>
        <p:nvSpPr>
          <p:cNvPr id="8" name="Shape 5"/>
          <p:cNvSpPr/>
          <p:nvPr/>
        </p:nvSpPr>
        <p:spPr>
          <a:xfrm>
            <a:off x="4498848" y="1325880"/>
            <a:ext cx="3200400" cy="4389120"/>
          </a:xfrm>
          <a:prstGeom prst="roundRect">
            <a:avLst>
              <a:gd name="adj" fmla="val 2286"/>
            </a:avLst>
          </a:prstGeom>
          <a:solidFill>
            <a:srgbClr val="FFF7DF"/>
          </a:solidFill>
          <a:ln w="12700">
            <a:solidFill>
              <a:srgbClr val="E7B94B"/>
            </a:solidFill>
            <a:prstDash val="solid"/>
          </a:ln>
          <a:effectLst>
            <a:outerShdw sx="100000" sy="100000" kx="0" ky="0" algn="bl" rotWithShape="0" blurRad="25400" dist="12700" dir="2700000">
              <a:srgbClr val="000000">
                <a:alpha val="12000"/>
              </a:srgbClr>
            </a:outerShdw>
          </a:effectLst>
        </p:spPr>
      </p:sp>
      <p:sp>
        <p:nvSpPr>
          <p:cNvPr id="9" name="Text 6"/>
          <p:cNvSpPr/>
          <p:nvPr/>
        </p:nvSpPr>
        <p:spPr>
          <a:xfrm>
            <a:off x="4727448" y="1527048"/>
            <a:ext cx="274320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Backend</a:t>
            </a:r>
            <a:endParaRPr lang="en-US" sz="1500" dirty="0"/>
          </a:p>
        </p:txBody>
      </p:sp>
      <p:sp>
        <p:nvSpPr>
          <p:cNvPr id="10" name="Text 7"/>
          <p:cNvSpPr/>
          <p:nvPr/>
        </p:nvSpPr>
        <p:spPr>
          <a:xfrm>
            <a:off x="4727448" y="1911096"/>
            <a:ext cx="2743200" cy="3602736"/>
          </a:xfrm>
          <a:prstGeom prst="rect">
            <a:avLst/>
          </a:prstGeom>
          <a:noFill/>
          <a:ln/>
        </p:spPr>
        <p:txBody>
          <a:bodyPr wrap="square" lIns="254" tIns="254" rIns="254" bIns="254" rtlCol="0" anchor="t">
            <a:normAutofit/>
          </a:bodyPr>
          <a:lstStyle/>
          <a:p>
            <a:pPr indent="0" marL="0">
              <a:buNone/>
            </a:pPr>
            <a:r>
              <a:rPr lang="en-US" sz="1500" dirty="0">
                <a:solidFill>
                  <a:srgbClr val="15304A"/>
                </a:solidFill>
              </a:rPr>
              <a:t>ASP.NET Core Web API</a:t>
            </a:r>
            <a:endParaRPr lang="en-US" sz="1500" dirty="0"/>
          </a:p>
          <a:p>
            <a:pPr indent="0" marL="0">
              <a:buNone/>
            </a:pPr>
            <a:r>
              <a:rPr lang="en-US" sz="1500" dirty="0">
                <a:solidFill>
                  <a:srgbClr val="15304A"/>
                </a:solidFill>
              </a:rPr>
              <a:t>Controller classes</a:t>
            </a:r>
            <a:endParaRPr lang="en-US" sz="1500" dirty="0"/>
          </a:p>
          <a:p>
            <a:pPr indent="0" marL="0">
              <a:buNone/>
            </a:pPr>
            <a:r>
              <a:rPr lang="en-US" sz="1500" dirty="0">
                <a:solidFill>
                  <a:srgbClr val="15304A"/>
                </a:solidFill>
              </a:rPr>
              <a:t>Data/business classes</a:t>
            </a:r>
            <a:endParaRPr lang="en-US" sz="1500" dirty="0"/>
          </a:p>
          <a:p>
            <a:pPr indent="0" marL="0">
              <a:buNone/>
            </a:pPr>
            <a:r>
              <a:rPr lang="en-US" sz="1500" dirty="0">
                <a:solidFill>
                  <a:srgbClr val="15304A"/>
                </a:solidFill>
              </a:rPr>
              <a:t>Dependency Injection</a:t>
            </a:r>
            <a:endParaRPr lang="en-US" sz="1500" dirty="0"/>
          </a:p>
          <a:p>
            <a:pPr indent="0" marL="0">
              <a:buNone/>
            </a:pPr>
            <a:r>
              <a:rPr lang="en-US" sz="1500" dirty="0">
                <a:solidFill>
                  <a:srgbClr val="15304A"/>
                </a:solidFill>
              </a:rPr>
              <a:t>Swagger testing</a:t>
            </a:r>
            <a:endParaRPr lang="en-US" sz="1500" dirty="0"/>
          </a:p>
        </p:txBody>
      </p:sp>
      <p:sp>
        <p:nvSpPr>
          <p:cNvPr id="11" name="Shape 8"/>
          <p:cNvSpPr/>
          <p:nvPr/>
        </p:nvSpPr>
        <p:spPr>
          <a:xfrm>
            <a:off x="8247888" y="1325880"/>
            <a:ext cx="3200400" cy="4389120"/>
          </a:xfrm>
          <a:prstGeom prst="roundRect">
            <a:avLst>
              <a:gd name="adj" fmla="val 2286"/>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12" name="Text 9"/>
          <p:cNvSpPr/>
          <p:nvPr/>
        </p:nvSpPr>
        <p:spPr>
          <a:xfrm>
            <a:off x="8476488" y="1527048"/>
            <a:ext cx="2743200" cy="256032"/>
          </a:xfrm>
          <a:prstGeom prst="rect">
            <a:avLst/>
          </a:prstGeom>
          <a:noFill/>
          <a:ln/>
        </p:spPr>
        <p:txBody>
          <a:bodyPr wrap="square" lIns="0" tIns="0" rIns="0" bIns="0" rtlCol="0" anchor="ctr">
            <a:normAutofit/>
          </a:bodyPr>
          <a:lstStyle/>
          <a:p>
            <a:pPr indent="0" marL="0">
              <a:buNone/>
            </a:pPr>
            <a:r>
              <a:rPr lang="en-US" sz="1500" b="1" dirty="0">
                <a:solidFill>
                  <a:srgbClr val="174A7E"/>
                </a:solidFill>
              </a:rPr>
              <a:t>Database</a:t>
            </a:r>
            <a:endParaRPr lang="en-US" sz="1500" dirty="0"/>
          </a:p>
        </p:txBody>
      </p:sp>
      <p:sp>
        <p:nvSpPr>
          <p:cNvPr id="13" name="Text 10"/>
          <p:cNvSpPr/>
          <p:nvPr/>
        </p:nvSpPr>
        <p:spPr>
          <a:xfrm>
            <a:off x="8476488" y="1911096"/>
            <a:ext cx="2743200" cy="3602736"/>
          </a:xfrm>
          <a:prstGeom prst="rect">
            <a:avLst/>
          </a:prstGeom>
          <a:noFill/>
          <a:ln/>
        </p:spPr>
        <p:txBody>
          <a:bodyPr wrap="square" lIns="254" tIns="254" rIns="254" bIns="254" rtlCol="0" anchor="t">
            <a:normAutofit/>
          </a:bodyPr>
          <a:lstStyle/>
          <a:p>
            <a:pPr indent="0" marL="0">
              <a:buNone/>
            </a:pPr>
            <a:r>
              <a:rPr lang="en-US" sz="1500" dirty="0">
                <a:solidFill>
                  <a:srgbClr val="15304A"/>
                </a:solidFill>
              </a:rPr>
              <a:t>SQL Server</a:t>
            </a:r>
            <a:endParaRPr lang="en-US" sz="1500" dirty="0"/>
          </a:p>
          <a:p>
            <a:pPr indent="0" marL="0">
              <a:buNone/>
            </a:pPr>
            <a:r>
              <a:rPr lang="en-US" sz="1500" dirty="0">
                <a:solidFill>
                  <a:srgbClr val="15304A"/>
                </a:solidFill>
              </a:rPr>
              <a:t>Relational tables</a:t>
            </a:r>
            <a:endParaRPr lang="en-US" sz="1500" dirty="0"/>
          </a:p>
          <a:p>
            <a:pPr indent="0" marL="0">
              <a:buNone/>
            </a:pPr>
            <a:r>
              <a:rPr lang="en-US" sz="1500" dirty="0">
                <a:solidFill>
                  <a:srgbClr val="15304A"/>
                </a:solidFill>
              </a:rPr>
              <a:t>Primary keys</a:t>
            </a:r>
            <a:endParaRPr lang="en-US" sz="1500" dirty="0"/>
          </a:p>
          <a:p>
            <a:pPr indent="0" marL="0">
              <a:buNone/>
            </a:pPr>
            <a:r>
              <a:rPr lang="en-US" sz="1500" dirty="0">
                <a:solidFill>
                  <a:srgbClr val="15304A"/>
                </a:solidFill>
              </a:rPr>
              <a:t>Foreign keys</a:t>
            </a:r>
            <a:endParaRPr lang="en-US" sz="1500" dirty="0"/>
          </a:p>
          <a:p>
            <a:pPr indent="0" marL="0">
              <a:buNone/>
            </a:pPr>
            <a:r>
              <a:rPr lang="en-US" sz="1500" dirty="0">
                <a:solidFill>
                  <a:srgbClr val="15304A"/>
                </a:solidFill>
              </a:rPr>
              <a:t>JOIN queries</a:t>
            </a:r>
            <a:endParaRPr lang="en-US" sz="1500" dirty="0"/>
          </a:p>
        </p:txBody>
      </p:sp>
      <p:sp>
        <p:nvSpPr>
          <p:cNvPr id="14" name="Text 11"/>
          <p:cNvSpPr/>
          <p:nvPr/>
        </p:nvSpPr>
        <p:spPr>
          <a:xfrm>
            <a:off x="960120" y="5897880"/>
            <a:ext cx="10287000" cy="347472"/>
          </a:xfrm>
          <a:prstGeom prst="rect">
            <a:avLst/>
          </a:prstGeom>
          <a:noFill/>
          <a:ln/>
        </p:spPr>
        <p:txBody>
          <a:bodyPr wrap="square" lIns="0" tIns="0" rIns="0" bIns="0" rtlCol="0" anchor="ctr"/>
          <a:lstStyle/>
          <a:p>
            <a:pPr algn="ctr" indent="0" marL="0">
              <a:buNone/>
            </a:pPr>
            <a:r>
              <a:rPr lang="en-US" sz="1350" b="1" dirty="0">
                <a:solidFill>
                  <a:srgbClr val="10375F"/>
                </a:solidFill>
              </a:rPr>
              <a:t>Main integration idea: React is the user interface, ASP.NET Core is the controlled API layer, and SQL Server is the system of record.</a:t>
            </a:r>
            <a:endParaRPr lang="en-US" sz="135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10896"/>
            <a:ext cx="2926080" cy="201168"/>
          </a:xfrm>
          <a:prstGeom prst="rect">
            <a:avLst/>
          </a:prstGeom>
          <a:noFill/>
          <a:ln/>
        </p:spPr>
        <p:txBody>
          <a:bodyPr wrap="square" lIns="0" tIns="0" rIns="0" bIns="0" rtlCol="0" anchor="ctr"/>
          <a:lstStyle/>
          <a:p>
            <a:pPr indent="0" marL="0">
              <a:buNone/>
            </a:pPr>
            <a:r>
              <a:rPr lang="en-US" sz="950" b="1" dirty="0">
                <a:solidFill>
                  <a:srgbClr val="B78314"/>
                </a:solidFill>
              </a:rPr>
              <a:t>How the data is connected</a:t>
            </a:r>
            <a:endParaRPr lang="en-US" sz="950" dirty="0"/>
          </a:p>
        </p:txBody>
      </p:sp>
      <p:sp>
        <p:nvSpPr>
          <p:cNvPr id="3" name="Text 1"/>
          <p:cNvSpPr/>
          <p:nvPr/>
        </p:nvSpPr>
        <p:spPr>
          <a:xfrm>
            <a:off x="594360" y="566928"/>
            <a:ext cx="10424160" cy="502920"/>
          </a:xfrm>
          <a:prstGeom prst="rect">
            <a:avLst/>
          </a:prstGeom>
          <a:noFill/>
          <a:ln/>
        </p:spPr>
        <p:txBody>
          <a:bodyPr wrap="square" lIns="0" tIns="0" rIns="0" bIns="0" rtlCol="0" anchor="ctr">
            <a:normAutofit/>
          </a:bodyPr>
          <a:lstStyle/>
          <a:p>
            <a:pPr indent="0" marL="0">
              <a:buNone/>
            </a:pPr>
            <a:r>
              <a:rPr lang="en-US" sz="2550" b="1" dirty="0">
                <a:solidFill>
                  <a:srgbClr val="10375F"/>
                </a:solidFill>
              </a:rPr>
              <a:t>Database design</a:t>
            </a:r>
            <a:endParaRPr lang="en-US" sz="2550" dirty="0"/>
          </a:p>
        </p:txBody>
      </p:sp>
      <p:pic>
        <p:nvPicPr>
          <p:cNvPr id="4" name="Image 0" descr="/mnt/data/rentalpro_doc_assets/logo-mark.png">    </p:cNvPr>
          <p:cNvPicPr>
            <a:picLocks noChangeAspect="1"/>
          </p:cNvPicPr>
          <p:nvPr/>
        </p:nvPicPr>
        <p:blipFill>
          <a:blip r:embed="rId1"/>
          <a:stretch>
            <a:fillRect/>
          </a:stretch>
        </p:blipFill>
        <p:spPr>
          <a:xfrm>
            <a:off x="11109960" y="292608"/>
            <a:ext cx="438912" cy="438912"/>
          </a:xfrm>
          <a:prstGeom prst="rect">
            <a:avLst/>
          </a:prstGeom>
        </p:spPr>
      </p:pic>
      <p:pic>
        <p:nvPicPr>
          <p:cNvPr id="5" name="Image 1" descr="/mnt/data/rentalpro_doc_assets/er_overview.png">    </p:cNvPr>
          <p:cNvPicPr>
            <a:picLocks noChangeAspect="1"/>
          </p:cNvPicPr>
          <p:nvPr/>
        </p:nvPicPr>
        <p:blipFill>
          <a:blip r:embed="rId2"/>
          <a:stretch>
            <a:fillRect/>
          </a:stretch>
        </p:blipFill>
        <p:spPr>
          <a:xfrm>
            <a:off x="502920" y="1147572"/>
            <a:ext cx="7406640" cy="4690872"/>
          </a:xfrm>
          <a:prstGeom prst="rect">
            <a:avLst/>
          </a:prstGeom>
        </p:spPr>
      </p:pic>
      <p:sp>
        <p:nvSpPr>
          <p:cNvPr id="6" name="Shape 2"/>
          <p:cNvSpPr/>
          <p:nvPr/>
        </p:nvSpPr>
        <p:spPr>
          <a:xfrm>
            <a:off x="8229600" y="1325880"/>
            <a:ext cx="3154680" cy="1024128"/>
          </a:xfrm>
          <a:prstGeom prst="roundRect">
            <a:avLst>
              <a:gd name="adj" fmla="val 7143"/>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7" name="Text 3"/>
          <p:cNvSpPr/>
          <p:nvPr/>
        </p:nvSpPr>
        <p:spPr>
          <a:xfrm>
            <a:off x="8458200" y="1527048"/>
            <a:ext cx="269748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Core entity</a:t>
            </a:r>
            <a:endParaRPr lang="en-US" sz="1500" dirty="0"/>
          </a:p>
        </p:txBody>
      </p:sp>
      <p:sp>
        <p:nvSpPr>
          <p:cNvPr id="8" name="Text 4"/>
          <p:cNvSpPr/>
          <p:nvPr/>
        </p:nvSpPr>
        <p:spPr>
          <a:xfrm>
            <a:off x="8458200" y="1911096"/>
            <a:ext cx="2697480" cy="237744"/>
          </a:xfrm>
          <a:prstGeom prst="rect">
            <a:avLst/>
          </a:prstGeom>
          <a:noFill/>
          <a:ln/>
        </p:spPr>
        <p:txBody>
          <a:bodyPr wrap="square" lIns="254" tIns="254" rIns="254" bIns="254" rtlCol="0" anchor="t">
            <a:normAutofit/>
          </a:bodyPr>
          <a:lstStyle/>
          <a:p>
            <a:pPr indent="0" marL="0">
              <a:buNone/>
            </a:pPr>
            <a:r>
              <a:rPr lang="en-US" sz="1150" dirty="0">
                <a:solidFill>
                  <a:srgbClr val="15304A"/>
                </a:solidFill>
              </a:rPr>
              <a:t>Properties is the central table because rentals, sales and payments all depend on property records.</a:t>
            </a:r>
            <a:endParaRPr lang="en-US" sz="1150" dirty="0"/>
          </a:p>
        </p:txBody>
      </p:sp>
      <p:sp>
        <p:nvSpPr>
          <p:cNvPr id="9" name="Shape 5"/>
          <p:cNvSpPr/>
          <p:nvPr/>
        </p:nvSpPr>
        <p:spPr>
          <a:xfrm>
            <a:off x="8229600" y="2606040"/>
            <a:ext cx="3154680" cy="1024128"/>
          </a:xfrm>
          <a:prstGeom prst="roundRect">
            <a:avLst>
              <a:gd name="adj" fmla="val 7143"/>
            </a:avLst>
          </a:prstGeom>
          <a:solidFill>
            <a:srgbClr val="EAF2F9"/>
          </a:solidFill>
          <a:ln w="12700">
            <a:solidFill>
              <a:srgbClr val="174A7E"/>
            </a:solidFill>
            <a:prstDash val="solid"/>
          </a:ln>
          <a:effectLst>
            <a:outerShdw sx="100000" sy="100000" kx="0" ky="0" algn="bl" rotWithShape="0" blurRad="25400" dist="12700" dir="2700000">
              <a:srgbClr val="000000">
                <a:alpha val="12000"/>
              </a:srgbClr>
            </a:outerShdw>
          </a:effectLst>
        </p:spPr>
      </p:sp>
      <p:sp>
        <p:nvSpPr>
          <p:cNvPr id="10" name="Text 6"/>
          <p:cNvSpPr/>
          <p:nvPr/>
        </p:nvSpPr>
        <p:spPr>
          <a:xfrm>
            <a:off x="8458200" y="2807208"/>
            <a:ext cx="269748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People entities</a:t>
            </a:r>
            <a:endParaRPr lang="en-US" sz="1500" dirty="0"/>
          </a:p>
        </p:txBody>
      </p:sp>
      <p:sp>
        <p:nvSpPr>
          <p:cNvPr id="11" name="Text 7"/>
          <p:cNvSpPr/>
          <p:nvPr/>
        </p:nvSpPr>
        <p:spPr>
          <a:xfrm>
            <a:off x="8458200" y="3191256"/>
            <a:ext cx="2697480" cy="237744"/>
          </a:xfrm>
          <a:prstGeom prst="rect">
            <a:avLst/>
          </a:prstGeom>
          <a:noFill/>
          <a:ln/>
        </p:spPr>
        <p:txBody>
          <a:bodyPr wrap="square" lIns="254" tIns="254" rIns="254" bIns="254" rtlCol="0" anchor="t">
            <a:normAutofit/>
          </a:bodyPr>
          <a:lstStyle/>
          <a:p>
            <a:pPr indent="0" marL="0">
              <a:buNone/>
            </a:pPr>
            <a:r>
              <a:rPr lang="en-US" sz="1150" dirty="0">
                <a:solidFill>
                  <a:srgbClr val="15304A"/>
                </a:solidFill>
              </a:rPr>
              <a:t>Owners provide supply. Customers represent tenants and buyers.</a:t>
            </a:r>
            <a:endParaRPr lang="en-US" sz="1150" dirty="0"/>
          </a:p>
        </p:txBody>
      </p:sp>
      <p:sp>
        <p:nvSpPr>
          <p:cNvPr id="12" name="Shape 8"/>
          <p:cNvSpPr/>
          <p:nvPr/>
        </p:nvSpPr>
        <p:spPr>
          <a:xfrm>
            <a:off x="8229600" y="3886200"/>
            <a:ext cx="3154680" cy="1024128"/>
          </a:xfrm>
          <a:prstGeom prst="roundRect">
            <a:avLst>
              <a:gd name="adj" fmla="val 7143"/>
            </a:avLst>
          </a:prstGeom>
          <a:solidFill>
            <a:srgbClr val="FFF7DF"/>
          </a:solidFill>
          <a:ln w="12700">
            <a:solidFill>
              <a:srgbClr val="E7B94B"/>
            </a:solidFill>
            <a:prstDash val="solid"/>
          </a:ln>
          <a:effectLst>
            <a:outerShdw sx="100000" sy="100000" kx="0" ky="0" algn="bl" rotWithShape="0" blurRad="25400" dist="12700" dir="2700000">
              <a:srgbClr val="000000">
                <a:alpha val="12000"/>
              </a:srgbClr>
            </a:outerShdw>
          </a:effectLst>
        </p:spPr>
      </p:sp>
      <p:sp>
        <p:nvSpPr>
          <p:cNvPr id="13" name="Text 9"/>
          <p:cNvSpPr/>
          <p:nvPr/>
        </p:nvSpPr>
        <p:spPr>
          <a:xfrm>
            <a:off x="8458200" y="4087368"/>
            <a:ext cx="269748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Financial entities</a:t>
            </a:r>
            <a:endParaRPr lang="en-US" sz="1500" dirty="0"/>
          </a:p>
        </p:txBody>
      </p:sp>
      <p:sp>
        <p:nvSpPr>
          <p:cNvPr id="14" name="Text 10"/>
          <p:cNvSpPr/>
          <p:nvPr/>
        </p:nvSpPr>
        <p:spPr>
          <a:xfrm>
            <a:off x="8458200" y="4471416"/>
            <a:ext cx="2697480" cy="237744"/>
          </a:xfrm>
          <a:prstGeom prst="rect">
            <a:avLst/>
          </a:prstGeom>
          <a:noFill/>
          <a:ln/>
        </p:spPr>
        <p:txBody>
          <a:bodyPr wrap="square" lIns="254" tIns="254" rIns="254" bIns="254" rtlCol="0" anchor="t">
            <a:normAutofit/>
          </a:bodyPr>
          <a:lstStyle/>
          <a:p>
            <a:pPr indent="0" marL="0">
              <a:buNone/>
            </a:pPr>
            <a:r>
              <a:rPr lang="en-US" sz="1150" dirty="0">
                <a:solidFill>
                  <a:srgbClr val="15304A"/>
                </a:solidFill>
              </a:rPr>
              <a:t>Rentals, sales and payments convert business activity into trackable records.</a:t>
            </a:r>
            <a:endParaRPr lang="en-US" sz="115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10896"/>
            <a:ext cx="2926080" cy="201168"/>
          </a:xfrm>
          <a:prstGeom prst="rect">
            <a:avLst/>
          </a:prstGeom>
          <a:noFill/>
          <a:ln/>
        </p:spPr>
        <p:txBody>
          <a:bodyPr wrap="square" lIns="0" tIns="0" rIns="0" bIns="0" rtlCol="0" anchor="ctr"/>
          <a:lstStyle/>
          <a:p>
            <a:pPr indent="0" marL="0">
              <a:buNone/>
            </a:pPr>
            <a:r>
              <a:rPr lang="en-US" sz="950" b="1" dirty="0">
                <a:solidFill>
                  <a:srgbClr val="B78314"/>
                </a:solidFill>
              </a:rPr>
              <a:t>Request lifecycle</a:t>
            </a:r>
            <a:endParaRPr lang="en-US" sz="950" dirty="0"/>
          </a:p>
        </p:txBody>
      </p:sp>
      <p:sp>
        <p:nvSpPr>
          <p:cNvPr id="3" name="Text 1"/>
          <p:cNvSpPr/>
          <p:nvPr/>
        </p:nvSpPr>
        <p:spPr>
          <a:xfrm>
            <a:off x="594360" y="566928"/>
            <a:ext cx="10424160" cy="502920"/>
          </a:xfrm>
          <a:prstGeom prst="rect">
            <a:avLst/>
          </a:prstGeom>
          <a:noFill/>
          <a:ln/>
        </p:spPr>
        <p:txBody>
          <a:bodyPr wrap="square" lIns="0" tIns="0" rIns="0" bIns="0" rtlCol="0" anchor="ctr">
            <a:normAutofit/>
          </a:bodyPr>
          <a:lstStyle/>
          <a:p>
            <a:pPr indent="0" marL="0">
              <a:buNone/>
            </a:pPr>
            <a:r>
              <a:rPr lang="en-US" sz="2550" b="1" dirty="0">
                <a:solidFill>
                  <a:srgbClr val="10375F"/>
                </a:solidFill>
              </a:rPr>
              <a:t>System architecture</a:t>
            </a:r>
            <a:endParaRPr lang="en-US" sz="2550" dirty="0"/>
          </a:p>
        </p:txBody>
      </p:sp>
      <p:pic>
        <p:nvPicPr>
          <p:cNvPr id="4" name="Image 0" descr="/mnt/data/rentalpro_doc_assets/logo-mark.png">    </p:cNvPr>
          <p:cNvPicPr>
            <a:picLocks noChangeAspect="1"/>
          </p:cNvPicPr>
          <p:nvPr/>
        </p:nvPicPr>
        <p:blipFill>
          <a:blip r:embed="rId1"/>
          <a:stretch>
            <a:fillRect/>
          </a:stretch>
        </p:blipFill>
        <p:spPr>
          <a:xfrm>
            <a:off x="11109960" y="292608"/>
            <a:ext cx="438912" cy="438912"/>
          </a:xfrm>
          <a:prstGeom prst="rect">
            <a:avLst/>
          </a:prstGeom>
        </p:spPr>
      </p:pic>
      <p:pic>
        <p:nvPicPr>
          <p:cNvPr id="5" name="Image 1" descr="/mnt/data/rentalpro_doc_assets/architecture.png">    </p:cNvPr>
          <p:cNvPicPr>
            <a:picLocks noChangeAspect="1"/>
          </p:cNvPicPr>
          <p:nvPr/>
        </p:nvPicPr>
        <p:blipFill>
          <a:blip r:embed="rId2"/>
          <a:stretch>
            <a:fillRect/>
          </a:stretch>
        </p:blipFill>
        <p:spPr>
          <a:xfrm>
            <a:off x="502920" y="1427378"/>
            <a:ext cx="7178040" cy="3445459"/>
          </a:xfrm>
          <a:prstGeom prst="rect">
            <a:avLst/>
          </a:prstGeom>
        </p:spPr>
      </p:pic>
      <p:sp>
        <p:nvSpPr>
          <p:cNvPr id="6" name="Shape 2"/>
          <p:cNvSpPr/>
          <p:nvPr/>
        </p:nvSpPr>
        <p:spPr>
          <a:xfrm>
            <a:off x="7973568" y="1234440"/>
            <a:ext cx="3520440" cy="1051560"/>
          </a:xfrm>
          <a:prstGeom prst="roundRect">
            <a:avLst>
              <a:gd name="adj" fmla="val 6957"/>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7" name="Text 3"/>
          <p:cNvSpPr/>
          <p:nvPr/>
        </p:nvSpPr>
        <p:spPr>
          <a:xfrm>
            <a:off x="8202168" y="1435608"/>
            <a:ext cx="306324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Development mode</a:t>
            </a:r>
            <a:endParaRPr lang="en-US" sz="1500" dirty="0"/>
          </a:p>
        </p:txBody>
      </p:sp>
      <p:sp>
        <p:nvSpPr>
          <p:cNvPr id="8" name="Text 4"/>
          <p:cNvSpPr/>
          <p:nvPr/>
        </p:nvSpPr>
        <p:spPr>
          <a:xfrm>
            <a:off x="8202168" y="1819656"/>
            <a:ext cx="3063240" cy="265176"/>
          </a:xfrm>
          <a:prstGeom prst="rect">
            <a:avLst/>
          </a:prstGeom>
          <a:noFill/>
          <a:ln/>
        </p:spPr>
        <p:txBody>
          <a:bodyPr wrap="square" lIns="254" tIns="254" rIns="254" bIns="254" rtlCol="0" anchor="t">
            <a:normAutofit/>
          </a:bodyPr>
          <a:lstStyle/>
          <a:p>
            <a:pPr indent="0" marL="0">
              <a:buNone/>
            </a:pPr>
            <a:r>
              <a:rPr lang="en-US" sz="1150" dirty="0">
                <a:solidFill>
                  <a:srgbClr val="15304A"/>
                </a:solidFill>
              </a:rPr>
              <a:t>React runs on Vite. Vite proxy forwards /api requests to ASP.NET Core.</a:t>
            </a:r>
            <a:endParaRPr lang="en-US" sz="1150" dirty="0"/>
          </a:p>
        </p:txBody>
      </p:sp>
      <p:sp>
        <p:nvSpPr>
          <p:cNvPr id="9" name="Shape 5"/>
          <p:cNvSpPr/>
          <p:nvPr/>
        </p:nvSpPr>
        <p:spPr>
          <a:xfrm>
            <a:off x="7973568" y="2514600"/>
            <a:ext cx="3520440" cy="1051560"/>
          </a:xfrm>
          <a:prstGeom prst="roundRect">
            <a:avLst>
              <a:gd name="adj" fmla="val 6957"/>
            </a:avLst>
          </a:prstGeom>
          <a:solidFill>
            <a:srgbClr val="EAF2F9"/>
          </a:solidFill>
          <a:ln w="12700">
            <a:solidFill>
              <a:srgbClr val="174A7E"/>
            </a:solidFill>
            <a:prstDash val="solid"/>
          </a:ln>
          <a:effectLst>
            <a:outerShdw sx="100000" sy="100000" kx="0" ky="0" algn="bl" rotWithShape="0" blurRad="25400" dist="12700" dir="2700000">
              <a:srgbClr val="000000">
                <a:alpha val="12000"/>
              </a:srgbClr>
            </a:outerShdw>
          </a:effectLst>
        </p:spPr>
      </p:sp>
      <p:sp>
        <p:nvSpPr>
          <p:cNvPr id="10" name="Text 6"/>
          <p:cNvSpPr/>
          <p:nvPr/>
        </p:nvSpPr>
        <p:spPr>
          <a:xfrm>
            <a:off x="8202168" y="2715768"/>
            <a:ext cx="306324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Production mode</a:t>
            </a:r>
            <a:endParaRPr lang="en-US" sz="1500" dirty="0"/>
          </a:p>
        </p:txBody>
      </p:sp>
      <p:sp>
        <p:nvSpPr>
          <p:cNvPr id="11" name="Text 7"/>
          <p:cNvSpPr/>
          <p:nvPr/>
        </p:nvSpPr>
        <p:spPr>
          <a:xfrm>
            <a:off x="8202168" y="3099816"/>
            <a:ext cx="3063240" cy="265176"/>
          </a:xfrm>
          <a:prstGeom prst="rect">
            <a:avLst/>
          </a:prstGeom>
          <a:noFill/>
          <a:ln/>
        </p:spPr>
        <p:txBody>
          <a:bodyPr wrap="square" lIns="254" tIns="254" rIns="254" bIns="254" rtlCol="0" anchor="t">
            <a:normAutofit/>
          </a:bodyPr>
          <a:lstStyle/>
          <a:p>
            <a:pPr indent="0" marL="0">
              <a:buNone/>
            </a:pPr>
            <a:r>
              <a:rPr lang="en-US" sz="1150" dirty="0">
                <a:solidFill>
                  <a:srgbClr val="15304A"/>
                </a:solidFill>
              </a:rPr>
              <a:t>React is built into static files and served by ASP.NET Core from wwwroot.</a:t>
            </a:r>
            <a:endParaRPr lang="en-US" sz="1150" dirty="0"/>
          </a:p>
        </p:txBody>
      </p:sp>
      <p:sp>
        <p:nvSpPr>
          <p:cNvPr id="12" name="Shape 8"/>
          <p:cNvSpPr/>
          <p:nvPr/>
        </p:nvSpPr>
        <p:spPr>
          <a:xfrm>
            <a:off x="7973568" y="3794760"/>
            <a:ext cx="3520440" cy="1051560"/>
          </a:xfrm>
          <a:prstGeom prst="roundRect">
            <a:avLst>
              <a:gd name="adj" fmla="val 6957"/>
            </a:avLst>
          </a:prstGeom>
          <a:solidFill>
            <a:srgbClr val="FFF7DF"/>
          </a:solidFill>
          <a:ln w="12700">
            <a:solidFill>
              <a:srgbClr val="E7B94B"/>
            </a:solidFill>
            <a:prstDash val="solid"/>
          </a:ln>
          <a:effectLst>
            <a:outerShdw sx="100000" sy="100000" kx="0" ky="0" algn="bl" rotWithShape="0" blurRad="25400" dist="12700" dir="2700000">
              <a:srgbClr val="000000">
                <a:alpha val="12000"/>
              </a:srgbClr>
            </a:outerShdw>
          </a:effectLst>
        </p:spPr>
      </p:sp>
      <p:sp>
        <p:nvSpPr>
          <p:cNvPr id="13" name="Text 9"/>
          <p:cNvSpPr/>
          <p:nvPr/>
        </p:nvSpPr>
        <p:spPr>
          <a:xfrm>
            <a:off x="8202168" y="3995928"/>
            <a:ext cx="306324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Data safety</a:t>
            </a:r>
            <a:endParaRPr lang="en-US" sz="1500" dirty="0"/>
          </a:p>
        </p:txBody>
      </p:sp>
      <p:sp>
        <p:nvSpPr>
          <p:cNvPr id="14" name="Text 10"/>
          <p:cNvSpPr/>
          <p:nvPr/>
        </p:nvSpPr>
        <p:spPr>
          <a:xfrm>
            <a:off x="8202168" y="4379976"/>
            <a:ext cx="3063240" cy="265176"/>
          </a:xfrm>
          <a:prstGeom prst="rect">
            <a:avLst/>
          </a:prstGeom>
          <a:noFill/>
          <a:ln/>
        </p:spPr>
        <p:txBody>
          <a:bodyPr wrap="square" lIns="254" tIns="254" rIns="254" bIns="254" rtlCol="0" anchor="t">
            <a:normAutofit/>
          </a:bodyPr>
          <a:lstStyle/>
          <a:p>
            <a:pPr indent="0" marL="0">
              <a:buNone/>
            </a:pPr>
            <a:r>
              <a:rPr lang="en-US" sz="1150" dirty="0">
                <a:solidFill>
                  <a:srgbClr val="15304A"/>
                </a:solidFill>
              </a:rPr>
              <a:t>The browser never talks directly to SQL Server. Controllers validate requests first.</a:t>
            </a:r>
            <a:endParaRPr lang="en-US" sz="1150" dirty="0"/>
          </a:p>
        </p:txBody>
      </p:sp>
      <p:sp>
        <p:nvSpPr>
          <p:cNvPr id="15" name="Text 11"/>
          <p:cNvSpPr/>
          <p:nvPr/>
        </p:nvSpPr>
        <p:spPr>
          <a:xfrm>
            <a:off x="868680" y="5623560"/>
            <a:ext cx="10424160" cy="320040"/>
          </a:xfrm>
          <a:prstGeom prst="rect">
            <a:avLst/>
          </a:prstGeom>
          <a:noFill/>
          <a:ln/>
        </p:spPr>
        <p:txBody>
          <a:bodyPr wrap="square" lIns="0" tIns="0" rIns="0" bIns="0" rtlCol="0" anchor="ctr"/>
          <a:lstStyle/>
          <a:p>
            <a:pPr algn="ctr" indent="0" marL="0">
              <a:buNone/>
            </a:pPr>
            <a:r>
              <a:rPr lang="en-US" sz="1500" b="1" dirty="0">
                <a:solidFill>
                  <a:srgbClr val="10375F"/>
                </a:solidFill>
              </a:rPr>
              <a:t>Browser → React → Axios → Controller → Data class → SQL Server → JSON response → React UI</a:t>
            </a:r>
            <a:endParaRPr lang="en-US" sz="150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10896"/>
            <a:ext cx="2926080" cy="201168"/>
          </a:xfrm>
          <a:prstGeom prst="rect">
            <a:avLst/>
          </a:prstGeom>
          <a:noFill/>
          <a:ln/>
        </p:spPr>
        <p:txBody>
          <a:bodyPr wrap="square" lIns="0" tIns="0" rIns="0" bIns="0" rtlCol="0" anchor="ctr"/>
          <a:lstStyle/>
          <a:p>
            <a:pPr indent="0" marL="0">
              <a:buNone/>
            </a:pPr>
            <a:r>
              <a:rPr lang="en-US" sz="950" b="1" dirty="0">
                <a:solidFill>
                  <a:srgbClr val="B78314"/>
                </a:solidFill>
              </a:rPr>
              <a:t>How I would present the live system</a:t>
            </a:r>
            <a:endParaRPr lang="en-US" sz="950" dirty="0"/>
          </a:p>
        </p:txBody>
      </p:sp>
      <p:sp>
        <p:nvSpPr>
          <p:cNvPr id="3" name="Text 1"/>
          <p:cNvSpPr/>
          <p:nvPr/>
        </p:nvSpPr>
        <p:spPr>
          <a:xfrm>
            <a:off x="594360" y="566928"/>
            <a:ext cx="10424160" cy="502920"/>
          </a:xfrm>
          <a:prstGeom prst="rect">
            <a:avLst/>
          </a:prstGeom>
          <a:noFill/>
          <a:ln/>
        </p:spPr>
        <p:txBody>
          <a:bodyPr wrap="square" lIns="0" tIns="0" rIns="0" bIns="0" rtlCol="0" anchor="ctr">
            <a:normAutofit/>
          </a:bodyPr>
          <a:lstStyle/>
          <a:p>
            <a:pPr indent="0" marL="0">
              <a:buNone/>
            </a:pPr>
            <a:r>
              <a:rPr lang="en-US" sz="2550" b="1" dirty="0">
                <a:solidFill>
                  <a:srgbClr val="10375F"/>
                </a:solidFill>
              </a:rPr>
              <a:t>System demonstration</a:t>
            </a:r>
            <a:endParaRPr lang="en-US" sz="2550" dirty="0"/>
          </a:p>
        </p:txBody>
      </p:sp>
      <p:pic>
        <p:nvPicPr>
          <p:cNvPr id="4" name="Image 0" descr="/mnt/data/rentalpro_doc_assets/logo-mark.png">    </p:cNvPr>
          <p:cNvPicPr>
            <a:picLocks noChangeAspect="1"/>
          </p:cNvPicPr>
          <p:nvPr/>
        </p:nvPicPr>
        <p:blipFill>
          <a:blip r:embed="rId1"/>
          <a:stretch>
            <a:fillRect/>
          </a:stretch>
        </p:blipFill>
        <p:spPr>
          <a:xfrm>
            <a:off x="11109960" y="292608"/>
            <a:ext cx="438912" cy="438912"/>
          </a:xfrm>
          <a:prstGeom prst="rect">
            <a:avLst/>
          </a:prstGeom>
        </p:spPr>
      </p:pic>
      <p:pic>
        <p:nvPicPr>
          <p:cNvPr id="5" name="Image 1" descr="/mnt/data/image(204).png">    </p:cNvPr>
          <p:cNvPicPr>
            <a:picLocks noChangeAspect="1"/>
          </p:cNvPicPr>
          <p:nvPr/>
        </p:nvPicPr>
        <p:blipFill>
          <a:blip r:embed="rId2"/>
          <a:stretch>
            <a:fillRect/>
          </a:stretch>
        </p:blipFill>
        <p:spPr>
          <a:xfrm>
            <a:off x="6327648" y="1429412"/>
            <a:ext cx="5257800" cy="2581857"/>
          </a:xfrm>
          <a:prstGeom prst="rect">
            <a:avLst/>
          </a:prstGeom>
        </p:spPr>
      </p:pic>
      <p:sp>
        <p:nvSpPr>
          <p:cNvPr id="6" name="Shape 2"/>
          <p:cNvSpPr/>
          <p:nvPr/>
        </p:nvSpPr>
        <p:spPr>
          <a:xfrm>
            <a:off x="658368" y="1234440"/>
            <a:ext cx="402336" cy="402336"/>
          </a:xfrm>
          <a:prstGeom prst="ellipse">
            <a:avLst/>
          </a:prstGeom>
          <a:solidFill>
            <a:srgbClr val="E7B94B"/>
          </a:solidFill>
          <a:ln w="12700">
            <a:solidFill>
              <a:srgbClr val="E7B94B"/>
            </a:solidFill>
            <a:prstDash val="solid"/>
          </a:ln>
        </p:spPr>
      </p:sp>
      <p:sp>
        <p:nvSpPr>
          <p:cNvPr id="7" name="Text 3"/>
          <p:cNvSpPr/>
          <p:nvPr/>
        </p:nvSpPr>
        <p:spPr>
          <a:xfrm>
            <a:off x="658368" y="1316736"/>
            <a:ext cx="402336" cy="164592"/>
          </a:xfrm>
          <a:prstGeom prst="rect">
            <a:avLst/>
          </a:prstGeom>
          <a:noFill/>
          <a:ln/>
        </p:spPr>
        <p:txBody>
          <a:bodyPr wrap="square" lIns="0" tIns="0" rIns="0" bIns="0" rtlCol="0" anchor="ctr"/>
          <a:lstStyle/>
          <a:p>
            <a:pPr algn="ctr" indent="0" marL="0">
              <a:buNone/>
            </a:pPr>
            <a:r>
              <a:rPr lang="en-US" sz="1200" b="1" dirty="0">
                <a:solidFill>
                  <a:srgbClr val="10375F"/>
                </a:solidFill>
              </a:rPr>
              <a:t>1</a:t>
            </a:r>
            <a:endParaRPr lang="en-US" sz="1200" dirty="0"/>
          </a:p>
        </p:txBody>
      </p:sp>
      <p:sp>
        <p:nvSpPr>
          <p:cNvPr id="8" name="Text 4"/>
          <p:cNvSpPr/>
          <p:nvPr/>
        </p:nvSpPr>
        <p:spPr>
          <a:xfrm>
            <a:off x="1188720" y="1252728"/>
            <a:ext cx="4754880" cy="219456"/>
          </a:xfrm>
          <a:prstGeom prst="rect">
            <a:avLst/>
          </a:prstGeom>
          <a:noFill/>
          <a:ln/>
        </p:spPr>
        <p:txBody>
          <a:bodyPr wrap="square" lIns="0" tIns="0" rIns="0" bIns="0" rtlCol="0" anchor="ctr">
            <a:normAutofit/>
          </a:bodyPr>
          <a:lstStyle/>
          <a:p>
            <a:pPr indent="0" marL="0">
              <a:buNone/>
            </a:pPr>
            <a:r>
              <a:rPr lang="en-US" sz="1350" b="1" dirty="0">
                <a:solidFill>
                  <a:srgbClr val="10375F"/>
                </a:solidFill>
              </a:rPr>
              <a:t>Open Home</a:t>
            </a:r>
            <a:endParaRPr lang="en-US" sz="1350" dirty="0"/>
          </a:p>
        </p:txBody>
      </p:sp>
      <p:sp>
        <p:nvSpPr>
          <p:cNvPr id="9" name="Text 5"/>
          <p:cNvSpPr/>
          <p:nvPr/>
        </p:nvSpPr>
        <p:spPr>
          <a:xfrm>
            <a:off x="1188720" y="1527048"/>
            <a:ext cx="4754880" cy="347472"/>
          </a:xfrm>
          <a:prstGeom prst="rect">
            <a:avLst/>
          </a:prstGeom>
          <a:noFill/>
          <a:ln/>
        </p:spPr>
        <p:txBody>
          <a:bodyPr wrap="square" lIns="0" tIns="0" rIns="0" bIns="0" rtlCol="0" anchor="ctr">
            <a:normAutofit/>
          </a:bodyPr>
          <a:lstStyle/>
          <a:p>
            <a:pPr indent="0" marL="0">
              <a:buNone/>
            </a:pPr>
            <a:r>
              <a:rPr lang="en-US" sz="1020" dirty="0">
                <a:solidFill>
                  <a:srgbClr val="15304A"/>
                </a:solidFill>
              </a:rPr>
              <a:t>Introduce the purpose and navigation structure.</a:t>
            </a:r>
            <a:endParaRPr lang="en-US" sz="1020" dirty="0"/>
          </a:p>
        </p:txBody>
      </p:sp>
      <p:sp>
        <p:nvSpPr>
          <p:cNvPr id="10" name="Shape 6"/>
          <p:cNvSpPr/>
          <p:nvPr/>
        </p:nvSpPr>
        <p:spPr>
          <a:xfrm>
            <a:off x="658368" y="2103120"/>
            <a:ext cx="402336" cy="402336"/>
          </a:xfrm>
          <a:prstGeom prst="ellipse">
            <a:avLst/>
          </a:prstGeom>
          <a:solidFill>
            <a:srgbClr val="E7B94B"/>
          </a:solidFill>
          <a:ln w="12700">
            <a:solidFill>
              <a:srgbClr val="E7B94B"/>
            </a:solidFill>
            <a:prstDash val="solid"/>
          </a:ln>
        </p:spPr>
      </p:sp>
      <p:sp>
        <p:nvSpPr>
          <p:cNvPr id="11" name="Text 7"/>
          <p:cNvSpPr/>
          <p:nvPr/>
        </p:nvSpPr>
        <p:spPr>
          <a:xfrm>
            <a:off x="658368" y="2185416"/>
            <a:ext cx="402336" cy="164592"/>
          </a:xfrm>
          <a:prstGeom prst="rect">
            <a:avLst/>
          </a:prstGeom>
          <a:noFill/>
          <a:ln/>
        </p:spPr>
        <p:txBody>
          <a:bodyPr wrap="square" lIns="0" tIns="0" rIns="0" bIns="0" rtlCol="0" anchor="ctr"/>
          <a:lstStyle/>
          <a:p>
            <a:pPr algn="ctr" indent="0" marL="0">
              <a:buNone/>
            </a:pPr>
            <a:r>
              <a:rPr lang="en-US" sz="1200" b="1" dirty="0">
                <a:solidFill>
                  <a:srgbClr val="10375F"/>
                </a:solidFill>
              </a:rPr>
              <a:t>2</a:t>
            </a:r>
            <a:endParaRPr lang="en-US" sz="1200" dirty="0"/>
          </a:p>
        </p:txBody>
      </p:sp>
      <p:sp>
        <p:nvSpPr>
          <p:cNvPr id="12" name="Text 8"/>
          <p:cNvSpPr/>
          <p:nvPr/>
        </p:nvSpPr>
        <p:spPr>
          <a:xfrm>
            <a:off x="1188720" y="2121408"/>
            <a:ext cx="4754880" cy="219456"/>
          </a:xfrm>
          <a:prstGeom prst="rect">
            <a:avLst/>
          </a:prstGeom>
          <a:noFill/>
          <a:ln/>
        </p:spPr>
        <p:txBody>
          <a:bodyPr wrap="square" lIns="0" tIns="0" rIns="0" bIns="0" rtlCol="0" anchor="ctr">
            <a:normAutofit/>
          </a:bodyPr>
          <a:lstStyle/>
          <a:p>
            <a:pPr indent="0" marL="0">
              <a:buNone/>
            </a:pPr>
            <a:r>
              <a:rPr lang="en-US" sz="1350" b="1" dirty="0">
                <a:solidFill>
                  <a:srgbClr val="10375F"/>
                </a:solidFill>
              </a:rPr>
              <a:t>Go to Management Works</a:t>
            </a:r>
            <a:endParaRPr lang="en-US" sz="1350" dirty="0"/>
          </a:p>
        </p:txBody>
      </p:sp>
      <p:sp>
        <p:nvSpPr>
          <p:cNvPr id="13" name="Text 9"/>
          <p:cNvSpPr/>
          <p:nvPr/>
        </p:nvSpPr>
        <p:spPr>
          <a:xfrm>
            <a:off x="1188720" y="2395728"/>
            <a:ext cx="4754880" cy="347472"/>
          </a:xfrm>
          <a:prstGeom prst="rect">
            <a:avLst/>
          </a:prstGeom>
          <a:noFill/>
          <a:ln/>
        </p:spPr>
        <p:txBody>
          <a:bodyPr wrap="square" lIns="0" tIns="0" rIns="0" bIns="0" rtlCol="0" anchor="ctr">
            <a:normAutofit/>
          </a:bodyPr>
          <a:lstStyle/>
          <a:p>
            <a:pPr indent="0" marL="0">
              <a:buNone/>
            </a:pPr>
            <a:r>
              <a:rPr lang="en-US" sz="1020" dirty="0">
                <a:solidFill>
                  <a:srgbClr val="15304A"/>
                </a:solidFill>
              </a:rPr>
              <a:t>Show how modules are grouped in one operational menu.</a:t>
            </a:r>
            <a:endParaRPr lang="en-US" sz="1020" dirty="0"/>
          </a:p>
        </p:txBody>
      </p:sp>
      <p:sp>
        <p:nvSpPr>
          <p:cNvPr id="14" name="Shape 10"/>
          <p:cNvSpPr/>
          <p:nvPr/>
        </p:nvSpPr>
        <p:spPr>
          <a:xfrm>
            <a:off x="658368" y="2971800"/>
            <a:ext cx="402336" cy="402336"/>
          </a:xfrm>
          <a:prstGeom prst="ellipse">
            <a:avLst/>
          </a:prstGeom>
          <a:solidFill>
            <a:srgbClr val="E7B94B"/>
          </a:solidFill>
          <a:ln w="12700">
            <a:solidFill>
              <a:srgbClr val="E7B94B"/>
            </a:solidFill>
            <a:prstDash val="solid"/>
          </a:ln>
        </p:spPr>
      </p:sp>
      <p:sp>
        <p:nvSpPr>
          <p:cNvPr id="15" name="Text 11"/>
          <p:cNvSpPr/>
          <p:nvPr/>
        </p:nvSpPr>
        <p:spPr>
          <a:xfrm>
            <a:off x="658368" y="3054096"/>
            <a:ext cx="402336" cy="164592"/>
          </a:xfrm>
          <a:prstGeom prst="rect">
            <a:avLst/>
          </a:prstGeom>
          <a:noFill/>
          <a:ln/>
        </p:spPr>
        <p:txBody>
          <a:bodyPr wrap="square" lIns="0" tIns="0" rIns="0" bIns="0" rtlCol="0" anchor="ctr"/>
          <a:lstStyle/>
          <a:p>
            <a:pPr algn="ctr" indent="0" marL="0">
              <a:buNone/>
            </a:pPr>
            <a:r>
              <a:rPr lang="en-US" sz="1200" b="1" dirty="0">
                <a:solidFill>
                  <a:srgbClr val="10375F"/>
                </a:solidFill>
              </a:rPr>
              <a:t>3</a:t>
            </a:r>
            <a:endParaRPr lang="en-US" sz="1200" dirty="0"/>
          </a:p>
        </p:txBody>
      </p:sp>
      <p:sp>
        <p:nvSpPr>
          <p:cNvPr id="16" name="Text 12"/>
          <p:cNvSpPr/>
          <p:nvPr/>
        </p:nvSpPr>
        <p:spPr>
          <a:xfrm>
            <a:off x="1188720" y="2990088"/>
            <a:ext cx="4754880" cy="219456"/>
          </a:xfrm>
          <a:prstGeom prst="rect">
            <a:avLst/>
          </a:prstGeom>
          <a:noFill/>
          <a:ln/>
        </p:spPr>
        <p:txBody>
          <a:bodyPr wrap="square" lIns="0" tIns="0" rIns="0" bIns="0" rtlCol="0" anchor="ctr">
            <a:normAutofit/>
          </a:bodyPr>
          <a:lstStyle/>
          <a:p>
            <a:pPr indent="0" marL="0">
              <a:buNone/>
            </a:pPr>
            <a:r>
              <a:rPr lang="en-US" sz="1350" b="1" dirty="0">
                <a:solidFill>
                  <a:srgbClr val="10375F"/>
                </a:solidFill>
              </a:rPr>
              <a:t>Manage Properties</a:t>
            </a:r>
            <a:endParaRPr lang="en-US" sz="1350" dirty="0"/>
          </a:p>
        </p:txBody>
      </p:sp>
      <p:sp>
        <p:nvSpPr>
          <p:cNvPr id="17" name="Text 13"/>
          <p:cNvSpPr/>
          <p:nvPr/>
        </p:nvSpPr>
        <p:spPr>
          <a:xfrm>
            <a:off x="1188720" y="3264408"/>
            <a:ext cx="4754880" cy="347472"/>
          </a:xfrm>
          <a:prstGeom prst="rect">
            <a:avLst/>
          </a:prstGeom>
          <a:noFill/>
          <a:ln/>
        </p:spPr>
        <p:txBody>
          <a:bodyPr wrap="square" lIns="0" tIns="0" rIns="0" bIns="0" rtlCol="0" anchor="ctr">
            <a:normAutofit/>
          </a:bodyPr>
          <a:lstStyle/>
          <a:p>
            <a:pPr indent="0" marL="0">
              <a:buNone/>
            </a:pPr>
            <a:r>
              <a:rPr lang="en-US" sz="1020" dirty="0">
                <a:solidFill>
                  <a:srgbClr val="15304A"/>
                </a:solidFill>
              </a:rPr>
              <a:t>Create, edit, filter and delete property records.</a:t>
            </a:r>
            <a:endParaRPr lang="en-US" sz="1020" dirty="0"/>
          </a:p>
        </p:txBody>
      </p:sp>
      <p:sp>
        <p:nvSpPr>
          <p:cNvPr id="18" name="Shape 14"/>
          <p:cNvSpPr/>
          <p:nvPr/>
        </p:nvSpPr>
        <p:spPr>
          <a:xfrm>
            <a:off x="658368" y="3840480"/>
            <a:ext cx="402336" cy="402336"/>
          </a:xfrm>
          <a:prstGeom prst="ellipse">
            <a:avLst/>
          </a:prstGeom>
          <a:solidFill>
            <a:srgbClr val="E7B94B"/>
          </a:solidFill>
          <a:ln w="12700">
            <a:solidFill>
              <a:srgbClr val="E7B94B"/>
            </a:solidFill>
            <a:prstDash val="solid"/>
          </a:ln>
        </p:spPr>
      </p:sp>
      <p:sp>
        <p:nvSpPr>
          <p:cNvPr id="19" name="Text 15"/>
          <p:cNvSpPr/>
          <p:nvPr/>
        </p:nvSpPr>
        <p:spPr>
          <a:xfrm>
            <a:off x="658368" y="3922776"/>
            <a:ext cx="402336" cy="164592"/>
          </a:xfrm>
          <a:prstGeom prst="rect">
            <a:avLst/>
          </a:prstGeom>
          <a:noFill/>
          <a:ln/>
        </p:spPr>
        <p:txBody>
          <a:bodyPr wrap="square" lIns="0" tIns="0" rIns="0" bIns="0" rtlCol="0" anchor="ctr"/>
          <a:lstStyle/>
          <a:p>
            <a:pPr algn="ctr" indent="0" marL="0">
              <a:buNone/>
            </a:pPr>
            <a:r>
              <a:rPr lang="en-US" sz="1200" b="1" dirty="0">
                <a:solidFill>
                  <a:srgbClr val="10375F"/>
                </a:solidFill>
              </a:rPr>
              <a:t>4</a:t>
            </a:r>
            <a:endParaRPr lang="en-US" sz="1200" dirty="0"/>
          </a:p>
        </p:txBody>
      </p:sp>
      <p:sp>
        <p:nvSpPr>
          <p:cNvPr id="20" name="Text 16"/>
          <p:cNvSpPr/>
          <p:nvPr/>
        </p:nvSpPr>
        <p:spPr>
          <a:xfrm>
            <a:off x="1188720" y="3858768"/>
            <a:ext cx="4754880" cy="219456"/>
          </a:xfrm>
          <a:prstGeom prst="rect">
            <a:avLst/>
          </a:prstGeom>
          <a:noFill/>
          <a:ln/>
        </p:spPr>
        <p:txBody>
          <a:bodyPr wrap="square" lIns="0" tIns="0" rIns="0" bIns="0" rtlCol="0" anchor="ctr">
            <a:normAutofit/>
          </a:bodyPr>
          <a:lstStyle/>
          <a:p>
            <a:pPr indent="0" marL="0">
              <a:buNone/>
            </a:pPr>
            <a:r>
              <a:rPr lang="en-US" sz="1350" b="1" dirty="0">
                <a:solidFill>
                  <a:srgbClr val="10375F"/>
                </a:solidFill>
              </a:rPr>
              <a:t>Link records</a:t>
            </a:r>
            <a:endParaRPr lang="en-US" sz="1350" dirty="0"/>
          </a:p>
        </p:txBody>
      </p:sp>
      <p:sp>
        <p:nvSpPr>
          <p:cNvPr id="21" name="Text 17"/>
          <p:cNvSpPr/>
          <p:nvPr/>
        </p:nvSpPr>
        <p:spPr>
          <a:xfrm>
            <a:off x="1188720" y="4133088"/>
            <a:ext cx="4754880" cy="347472"/>
          </a:xfrm>
          <a:prstGeom prst="rect">
            <a:avLst/>
          </a:prstGeom>
          <a:noFill/>
          <a:ln/>
        </p:spPr>
        <p:txBody>
          <a:bodyPr wrap="square" lIns="0" tIns="0" rIns="0" bIns="0" rtlCol="0" anchor="ctr">
            <a:normAutofit/>
          </a:bodyPr>
          <a:lstStyle/>
          <a:p>
            <a:pPr indent="0" marL="0">
              <a:buNone/>
            </a:pPr>
            <a:r>
              <a:rPr lang="en-US" sz="1020" dirty="0">
                <a:solidFill>
                  <a:srgbClr val="15304A"/>
                </a:solidFill>
              </a:rPr>
              <a:t>Show how owners, customers, rentals, sales and payments connect.</a:t>
            </a:r>
            <a:endParaRPr lang="en-US" sz="1020" dirty="0"/>
          </a:p>
        </p:txBody>
      </p:sp>
      <p:sp>
        <p:nvSpPr>
          <p:cNvPr id="22" name="Shape 18"/>
          <p:cNvSpPr/>
          <p:nvPr/>
        </p:nvSpPr>
        <p:spPr>
          <a:xfrm>
            <a:off x="658368" y="4709160"/>
            <a:ext cx="402336" cy="402336"/>
          </a:xfrm>
          <a:prstGeom prst="ellipse">
            <a:avLst/>
          </a:prstGeom>
          <a:solidFill>
            <a:srgbClr val="E7B94B"/>
          </a:solidFill>
          <a:ln w="12700">
            <a:solidFill>
              <a:srgbClr val="E7B94B"/>
            </a:solidFill>
            <a:prstDash val="solid"/>
          </a:ln>
        </p:spPr>
      </p:sp>
      <p:sp>
        <p:nvSpPr>
          <p:cNvPr id="23" name="Text 19"/>
          <p:cNvSpPr/>
          <p:nvPr/>
        </p:nvSpPr>
        <p:spPr>
          <a:xfrm>
            <a:off x="658368" y="4791456"/>
            <a:ext cx="402336" cy="164592"/>
          </a:xfrm>
          <a:prstGeom prst="rect">
            <a:avLst/>
          </a:prstGeom>
          <a:noFill/>
          <a:ln/>
        </p:spPr>
        <p:txBody>
          <a:bodyPr wrap="square" lIns="0" tIns="0" rIns="0" bIns="0" rtlCol="0" anchor="ctr"/>
          <a:lstStyle/>
          <a:p>
            <a:pPr algn="ctr" indent="0" marL="0">
              <a:buNone/>
            </a:pPr>
            <a:r>
              <a:rPr lang="en-US" sz="1200" b="1" dirty="0">
                <a:solidFill>
                  <a:srgbClr val="10375F"/>
                </a:solidFill>
              </a:rPr>
              <a:t>5</a:t>
            </a:r>
            <a:endParaRPr lang="en-US" sz="1200" dirty="0"/>
          </a:p>
        </p:txBody>
      </p:sp>
      <p:sp>
        <p:nvSpPr>
          <p:cNvPr id="24" name="Text 20"/>
          <p:cNvSpPr/>
          <p:nvPr/>
        </p:nvSpPr>
        <p:spPr>
          <a:xfrm>
            <a:off x="1188720" y="4727448"/>
            <a:ext cx="4754880" cy="219456"/>
          </a:xfrm>
          <a:prstGeom prst="rect">
            <a:avLst/>
          </a:prstGeom>
          <a:noFill/>
          <a:ln/>
        </p:spPr>
        <p:txBody>
          <a:bodyPr wrap="square" lIns="0" tIns="0" rIns="0" bIns="0" rtlCol="0" anchor="ctr">
            <a:normAutofit/>
          </a:bodyPr>
          <a:lstStyle/>
          <a:p>
            <a:pPr indent="0" marL="0">
              <a:buNone/>
            </a:pPr>
            <a:r>
              <a:rPr lang="en-US" sz="1350" b="1" dirty="0">
                <a:solidFill>
                  <a:srgbClr val="10375F"/>
                </a:solidFill>
              </a:rPr>
              <a:t>Check API and database</a:t>
            </a:r>
            <a:endParaRPr lang="en-US" sz="1350" dirty="0"/>
          </a:p>
        </p:txBody>
      </p:sp>
      <p:sp>
        <p:nvSpPr>
          <p:cNvPr id="25" name="Text 21"/>
          <p:cNvSpPr/>
          <p:nvPr/>
        </p:nvSpPr>
        <p:spPr>
          <a:xfrm>
            <a:off x="1188720" y="5001768"/>
            <a:ext cx="4754880" cy="347472"/>
          </a:xfrm>
          <a:prstGeom prst="rect">
            <a:avLst/>
          </a:prstGeom>
          <a:noFill/>
          <a:ln/>
        </p:spPr>
        <p:txBody>
          <a:bodyPr wrap="square" lIns="0" tIns="0" rIns="0" bIns="0" rtlCol="0" anchor="ctr">
            <a:normAutofit/>
          </a:bodyPr>
          <a:lstStyle/>
          <a:p>
            <a:pPr indent="0" marL="0">
              <a:buNone/>
            </a:pPr>
            <a:r>
              <a:rPr lang="en-US" sz="1020" dirty="0">
                <a:solidFill>
                  <a:srgbClr val="15304A"/>
                </a:solidFill>
              </a:rPr>
              <a:t>Use Swagger and SQL Server to prove data is live.</a:t>
            </a:r>
            <a:endParaRPr lang="en-US" sz="1020" dirty="0"/>
          </a:p>
        </p:txBody>
      </p:sp>
      <p:sp>
        <p:nvSpPr>
          <p:cNvPr id="26" name="Shape 22"/>
          <p:cNvSpPr/>
          <p:nvPr/>
        </p:nvSpPr>
        <p:spPr>
          <a:xfrm>
            <a:off x="6537960" y="4645152"/>
            <a:ext cx="4617720" cy="777240"/>
          </a:xfrm>
          <a:prstGeom prst="roundRect">
            <a:avLst>
              <a:gd name="adj" fmla="val 9412"/>
            </a:avLst>
          </a:prstGeom>
          <a:solidFill>
            <a:srgbClr val="174A7E"/>
          </a:solidFill>
          <a:ln w="12700">
            <a:solidFill>
              <a:srgbClr val="174A7E"/>
            </a:solidFill>
            <a:prstDash val="solid"/>
          </a:ln>
        </p:spPr>
      </p:sp>
      <p:sp>
        <p:nvSpPr>
          <p:cNvPr id="27" name="Text 23"/>
          <p:cNvSpPr/>
          <p:nvPr/>
        </p:nvSpPr>
        <p:spPr>
          <a:xfrm>
            <a:off x="6766560" y="4846320"/>
            <a:ext cx="4160520" cy="256032"/>
          </a:xfrm>
          <a:prstGeom prst="rect">
            <a:avLst/>
          </a:prstGeom>
          <a:noFill/>
          <a:ln/>
        </p:spPr>
        <p:txBody>
          <a:bodyPr wrap="square" lIns="0" tIns="0" rIns="0" bIns="0" rtlCol="0" anchor="ctr">
            <a:normAutofit/>
          </a:bodyPr>
          <a:lstStyle/>
          <a:p>
            <a:pPr indent="0" marL="0">
              <a:buNone/>
            </a:pPr>
            <a:r>
              <a:rPr lang="en-US" sz="1250" b="1" dirty="0">
                <a:solidFill>
                  <a:srgbClr val="FFFFFF"/>
                </a:solidFill>
              </a:rPr>
              <a:t>Demo message</a:t>
            </a:r>
            <a:endParaRPr lang="en-US" sz="1250" dirty="0"/>
          </a:p>
        </p:txBody>
      </p:sp>
      <p:sp>
        <p:nvSpPr>
          <p:cNvPr id="28" name="Text 24"/>
          <p:cNvSpPr/>
          <p:nvPr/>
        </p:nvSpPr>
        <p:spPr>
          <a:xfrm>
            <a:off x="6766560" y="5230368"/>
            <a:ext cx="4160520" cy="-9144"/>
          </a:xfrm>
          <a:prstGeom prst="rect">
            <a:avLst/>
          </a:prstGeom>
          <a:noFill/>
          <a:ln/>
        </p:spPr>
        <p:txBody>
          <a:bodyPr wrap="square" lIns="254" tIns="254" rIns="254" bIns="254" rtlCol="0" anchor="t">
            <a:normAutofit/>
          </a:bodyPr>
          <a:lstStyle/>
          <a:p>
            <a:pPr indent="0" marL="0">
              <a:buNone/>
            </a:pPr>
            <a:r>
              <a:rPr lang="en-US" sz="1050" dirty="0">
                <a:solidFill>
                  <a:srgbClr val="FFFFFF"/>
                </a:solidFill>
              </a:rPr>
              <a:t>The UI is not static. Each tab collects live data through Axios from the C# API.</a:t>
            </a:r>
            <a:endParaRPr lang="en-US" sz="105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10896"/>
            <a:ext cx="2926080" cy="201168"/>
          </a:xfrm>
          <a:prstGeom prst="rect">
            <a:avLst/>
          </a:prstGeom>
          <a:noFill/>
          <a:ln/>
        </p:spPr>
        <p:txBody>
          <a:bodyPr wrap="square" lIns="0" tIns="0" rIns="0" bIns="0" rtlCol="0" anchor="ctr"/>
          <a:lstStyle/>
          <a:p>
            <a:pPr indent="0" marL="0">
              <a:buNone/>
            </a:pPr>
            <a:r>
              <a:rPr lang="en-US" sz="950" b="1" dirty="0">
                <a:solidFill>
                  <a:srgbClr val="B78314"/>
                </a:solidFill>
              </a:rPr>
              <a:t>Frontend deployment in ASP.NET Core</a:t>
            </a:r>
            <a:endParaRPr lang="en-US" sz="950" dirty="0"/>
          </a:p>
        </p:txBody>
      </p:sp>
      <p:sp>
        <p:nvSpPr>
          <p:cNvPr id="3" name="Text 1"/>
          <p:cNvSpPr/>
          <p:nvPr/>
        </p:nvSpPr>
        <p:spPr>
          <a:xfrm>
            <a:off x="594360" y="566928"/>
            <a:ext cx="10424160" cy="502920"/>
          </a:xfrm>
          <a:prstGeom prst="rect">
            <a:avLst/>
          </a:prstGeom>
          <a:noFill/>
          <a:ln/>
        </p:spPr>
        <p:txBody>
          <a:bodyPr wrap="square" lIns="0" tIns="0" rIns="0" bIns="0" rtlCol="0" anchor="ctr">
            <a:normAutofit/>
          </a:bodyPr>
          <a:lstStyle/>
          <a:p>
            <a:pPr indent="0" marL="0">
              <a:buNone/>
            </a:pPr>
            <a:r>
              <a:rPr lang="en-US" sz="2550" b="1" dirty="0">
                <a:solidFill>
                  <a:srgbClr val="10375F"/>
                </a:solidFill>
              </a:rPr>
              <a:t>What I learned: the wwwroot idea</a:t>
            </a:r>
            <a:endParaRPr lang="en-US" sz="2550" dirty="0"/>
          </a:p>
        </p:txBody>
      </p:sp>
      <p:pic>
        <p:nvPicPr>
          <p:cNvPr id="4" name="Image 0" descr="/mnt/data/rentalpro_doc_assets/logo-mark.png">    </p:cNvPr>
          <p:cNvPicPr>
            <a:picLocks noChangeAspect="1"/>
          </p:cNvPicPr>
          <p:nvPr/>
        </p:nvPicPr>
        <p:blipFill>
          <a:blip r:embed="rId1"/>
          <a:stretch>
            <a:fillRect/>
          </a:stretch>
        </p:blipFill>
        <p:spPr>
          <a:xfrm>
            <a:off x="11109960" y="292608"/>
            <a:ext cx="438912" cy="438912"/>
          </a:xfrm>
          <a:prstGeom prst="rect">
            <a:avLst/>
          </a:prstGeom>
        </p:spPr>
      </p:pic>
      <p:sp>
        <p:nvSpPr>
          <p:cNvPr id="5" name="Shape 2"/>
          <p:cNvSpPr/>
          <p:nvPr/>
        </p:nvSpPr>
        <p:spPr>
          <a:xfrm>
            <a:off x="731520" y="1325880"/>
            <a:ext cx="2743200" cy="1051560"/>
          </a:xfrm>
          <a:prstGeom prst="roundRect">
            <a:avLst>
              <a:gd name="adj" fmla="val 6957"/>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6" name="Text 3"/>
          <p:cNvSpPr/>
          <p:nvPr/>
        </p:nvSpPr>
        <p:spPr>
          <a:xfrm>
            <a:off x="960120" y="1527048"/>
            <a:ext cx="228600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React source</a:t>
            </a:r>
            <a:endParaRPr lang="en-US" sz="1500" dirty="0"/>
          </a:p>
        </p:txBody>
      </p:sp>
      <p:sp>
        <p:nvSpPr>
          <p:cNvPr id="7" name="Text 4"/>
          <p:cNvSpPr/>
          <p:nvPr/>
        </p:nvSpPr>
        <p:spPr>
          <a:xfrm>
            <a:off x="960120" y="1911096"/>
            <a:ext cx="2286000" cy="265176"/>
          </a:xfrm>
          <a:prstGeom prst="rect">
            <a:avLst/>
          </a:prstGeom>
          <a:noFill/>
          <a:ln/>
        </p:spPr>
        <p:txBody>
          <a:bodyPr wrap="square" lIns="254" tIns="254" rIns="254" bIns="254" rtlCol="0" anchor="t">
            <a:normAutofit/>
          </a:bodyPr>
          <a:lstStyle/>
          <a:p>
            <a:pPr indent="0" marL="0">
              <a:buNone/>
            </a:pPr>
            <a:r>
              <a:rPr lang="en-US" sz="1080" dirty="0">
                <a:solidFill>
                  <a:srgbClr val="15304A"/>
                </a:solidFill>
              </a:rPr>
              <a:t>Editable files live in frontend/src: pages, components, hooks, styles and images.</a:t>
            </a:r>
            <a:endParaRPr lang="en-US" sz="1080" dirty="0"/>
          </a:p>
        </p:txBody>
      </p:sp>
      <p:sp>
        <p:nvSpPr>
          <p:cNvPr id="8" name="Shape 5"/>
          <p:cNvSpPr/>
          <p:nvPr/>
        </p:nvSpPr>
        <p:spPr>
          <a:xfrm>
            <a:off x="3566160" y="1856232"/>
            <a:ext cx="621792" cy="0"/>
          </a:xfrm>
          <a:prstGeom prst="line">
            <a:avLst/>
          </a:prstGeom>
          <a:noFill/>
          <a:ln w="27940">
            <a:solidFill>
              <a:srgbClr val="174A7E"/>
            </a:solidFill>
            <a:prstDash val="solid"/>
            <a:headEnd type="none"/>
            <a:tailEnd type="triangle"/>
          </a:ln>
        </p:spPr>
      </p:sp>
      <p:sp>
        <p:nvSpPr>
          <p:cNvPr id="9" name="Shape 6"/>
          <p:cNvSpPr/>
          <p:nvPr/>
        </p:nvSpPr>
        <p:spPr>
          <a:xfrm>
            <a:off x="4343400" y="1325880"/>
            <a:ext cx="2743200" cy="1051560"/>
          </a:xfrm>
          <a:prstGeom prst="roundRect">
            <a:avLst>
              <a:gd name="adj" fmla="val 6957"/>
            </a:avLst>
          </a:prstGeom>
          <a:solidFill>
            <a:srgbClr val="FFF7DF"/>
          </a:solidFill>
          <a:ln w="12700">
            <a:solidFill>
              <a:srgbClr val="E7B94B"/>
            </a:solidFill>
            <a:prstDash val="solid"/>
          </a:ln>
          <a:effectLst>
            <a:outerShdw sx="100000" sy="100000" kx="0" ky="0" algn="bl" rotWithShape="0" blurRad="25400" dist="12700" dir="2700000">
              <a:srgbClr val="000000">
                <a:alpha val="12000"/>
              </a:srgbClr>
            </a:outerShdw>
          </a:effectLst>
        </p:spPr>
      </p:sp>
      <p:sp>
        <p:nvSpPr>
          <p:cNvPr id="10" name="Text 7"/>
          <p:cNvSpPr/>
          <p:nvPr/>
        </p:nvSpPr>
        <p:spPr>
          <a:xfrm>
            <a:off x="4572000" y="1527048"/>
            <a:ext cx="228600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Vite build</a:t>
            </a:r>
            <a:endParaRPr lang="en-US" sz="1500" dirty="0"/>
          </a:p>
        </p:txBody>
      </p:sp>
      <p:sp>
        <p:nvSpPr>
          <p:cNvPr id="11" name="Text 8"/>
          <p:cNvSpPr/>
          <p:nvPr/>
        </p:nvSpPr>
        <p:spPr>
          <a:xfrm>
            <a:off x="4572000" y="1911096"/>
            <a:ext cx="2286000" cy="265176"/>
          </a:xfrm>
          <a:prstGeom prst="rect">
            <a:avLst/>
          </a:prstGeom>
          <a:noFill/>
          <a:ln/>
        </p:spPr>
        <p:txBody>
          <a:bodyPr wrap="square" lIns="254" tIns="254" rIns="254" bIns="254" rtlCol="0" anchor="t">
            <a:normAutofit/>
          </a:bodyPr>
          <a:lstStyle/>
          <a:p>
            <a:pPr indent="0" marL="0">
              <a:buNone/>
            </a:pPr>
            <a:r>
              <a:rPr lang="en-US" sz="1080" dirty="0">
                <a:solidFill>
                  <a:srgbClr val="15304A"/>
                </a:solidFill>
              </a:rPr>
              <a:t>npm run build creates frontend/dist with index.html and assets.</a:t>
            </a:r>
            <a:endParaRPr lang="en-US" sz="1080" dirty="0"/>
          </a:p>
        </p:txBody>
      </p:sp>
      <p:sp>
        <p:nvSpPr>
          <p:cNvPr id="12" name="Shape 9"/>
          <p:cNvSpPr/>
          <p:nvPr/>
        </p:nvSpPr>
        <p:spPr>
          <a:xfrm>
            <a:off x="7178040" y="1856232"/>
            <a:ext cx="621792" cy="0"/>
          </a:xfrm>
          <a:prstGeom prst="line">
            <a:avLst/>
          </a:prstGeom>
          <a:noFill/>
          <a:ln w="27940">
            <a:solidFill>
              <a:srgbClr val="174A7E"/>
            </a:solidFill>
            <a:prstDash val="solid"/>
            <a:headEnd type="none"/>
            <a:tailEnd type="triangle"/>
          </a:ln>
        </p:spPr>
      </p:sp>
      <p:sp>
        <p:nvSpPr>
          <p:cNvPr id="13" name="Shape 10"/>
          <p:cNvSpPr/>
          <p:nvPr/>
        </p:nvSpPr>
        <p:spPr>
          <a:xfrm>
            <a:off x="7955280" y="1325880"/>
            <a:ext cx="2743200" cy="1051560"/>
          </a:xfrm>
          <a:prstGeom prst="roundRect">
            <a:avLst>
              <a:gd name="adj" fmla="val 6957"/>
            </a:avLst>
          </a:prstGeom>
          <a:solidFill>
            <a:srgbClr val="EAF2F9"/>
          </a:solidFill>
          <a:ln w="12700">
            <a:solidFill>
              <a:srgbClr val="174A7E"/>
            </a:solidFill>
            <a:prstDash val="solid"/>
          </a:ln>
          <a:effectLst>
            <a:outerShdw sx="100000" sy="100000" kx="0" ky="0" algn="bl" rotWithShape="0" blurRad="25400" dist="12700" dir="2700000">
              <a:srgbClr val="000000">
                <a:alpha val="12000"/>
              </a:srgbClr>
            </a:outerShdw>
          </a:effectLst>
        </p:spPr>
      </p:sp>
      <p:sp>
        <p:nvSpPr>
          <p:cNvPr id="14" name="Text 11"/>
          <p:cNvSpPr/>
          <p:nvPr/>
        </p:nvSpPr>
        <p:spPr>
          <a:xfrm>
            <a:off x="8183880" y="1527048"/>
            <a:ext cx="228600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wwwroot</a:t>
            </a:r>
            <a:endParaRPr lang="en-US" sz="1500" dirty="0"/>
          </a:p>
        </p:txBody>
      </p:sp>
      <p:sp>
        <p:nvSpPr>
          <p:cNvPr id="15" name="Text 12"/>
          <p:cNvSpPr/>
          <p:nvPr/>
        </p:nvSpPr>
        <p:spPr>
          <a:xfrm>
            <a:off x="8183880" y="1911096"/>
            <a:ext cx="2286000" cy="265176"/>
          </a:xfrm>
          <a:prstGeom prst="rect">
            <a:avLst/>
          </a:prstGeom>
          <a:noFill/>
          <a:ln/>
        </p:spPr>
        <p:txBody>
          <a:bodyPr wrap="square" lIns="254" tIns="254" rIns="254" bIns="254" rtlCol="0" anchor="t">
            <a:normAutofit/>
          </a:bodyPr>
          <a:lstStyle/>
          <a:p>
            <a:pPr indent="0" marL="0">
              <a:buNone/>
            </a:pPr>
            <a:r>
              <a:rPr lang="en-US" sz="1080" dirty="0">
                <a:solidFill>
                  <a:srgbClr val="15304A"/>
                </a:solidFill>
              </a:rPr>
              <a:t>ASP.NET Core serves the finished website from wwwroot.</a:t>
            </a:r>
            <a:endParaRPr lang="en-US" sz="1080" dirty="0"/>
          </a:p>
        </p:txBody>
      </p:sp>
      <p:sp>
        <p:nvSpPr>
          <p:cNvPr id="16" name="Shape 13"/>
          <p:cNvSpPr/>
          <p:nvPr/>
        </p:nvSpPr>
        <p:spPr>
          <a:xfrm>
            <a:off x="777240" y="2834640"/>
            <a:ext cx="4983480" cy="1828800"/>
          </a:xfrm>
          <a:prstGeom prst="roundRect">
            <a:avLst>
              <a:gd name="adj" fmla="val 2500"/>
            </a:avLst>
          </a:prstGeom>
          <a:solidFill>
            <a:srgbClr val="0B1720"/>
          </a:solidFill>
          <a:ln w="12700">
            <a:solidFill>
              <a:srgbClr val="0B1720"/>
            </a:solidFill>
            <a:prstDash val="solid"/>
          </a:ln>
          <a:effectLst>
            <a:outerShdw sx="100000" sy="100000" kx="0" ky="0" algn="bl" rotWithShape="0" blurRad="25400" dist="12700" dir="2700000">
              <a:srgbClr val="000000">
                <a:alpha val="18000"/>
              </a:srgbClr>
            </a:outerShdw>
          </a:effectLst>
        </p:spPr>
      </p:sp>
      <p:sp>
        <p:nvSpPr>
          <p:cNvPr id="17" name="Text 14"/>
          <p:cNvSpPr/>
          <p:nvPr/>
        </p:nvSpPr>
        <p:spPr>
          <a:xfrm>
            <a:off x="941832" y="2944368"/>
            <a:ext cx="4654296" cy="182880"/>
          </a:xfrm>
          <a:prstGeom prst="rect">
            <a:avLst/>
          </a:prstGeom>
          <a:noFill/>
          <a:ln/>
        </p:spPr>
        <p:txBody>
          <a:bodyPr wrap="square" lIns="0" tIns="0" rIns="0" bIns="0" rtlCol="0" anchor="ctr"/>
          <a:lstStyle/>
          <a:p>
            <a:pPr indent="0" marL="0">
              <a:buNone/>
            </a:pPr>
            <a:r>
              <a:rPr lang="en-US" sz="900" b="1" dirty="0">
                <a:solidFill>
                  <a:srgbClr val="E7B94B"/>
                </a:solidFill>
              </a:rPr>
              <a:t>Program.cs — serving React from ASP.NET Core</a:t>
            </a:r>
            <a:endParaRPr lang="en-US" sz="900" dirty="0"/>
          </a:p>
        </p:txBody>
      </p:sp>
      <p:sp>
        <p:nvSpPr>
          <p:cNvPr id="18" name="Text 15"/>
          <p:cNvSpPr/>
          <p:nvPr/>
        </p:nvSpPr>
        <p:spPr>
          <a:xfrm>
            <a:off x="941832" y="3218688"/>
            <a:ext cx="4654296" cy="1316736"/>
          </a:xfrm>
          <a:prstGeom prst="rect">
            <a:avLst/>
          </a:prstGeom>
          <a:noFill/>
          <a:ln/>
        </p:spPr>
        <p:txBody>
          <a:bodyPr wrap="square" lIns="0" tIns="0" rIns="0" bIns="0" rtlCol="0" anchor="t">
            <a:normAutofit/>
          </a:bodyPr>
          <a:lstStyle/>
          <a:p>
            <a:pPr indent="0" marL="0">
              <a:buNone/>
            </a:pPr>
            <a:r>
              <a:rPr lang="en-US" sz="850" dirty="0">
                <a:solidFill>
                  <a:srgbClr val="E8F1FF"/>
                </a:solidFill>
                <a:latin typeface="Consolas" pitchFamily="34" charset="0"/>
                <a:ea typeface="Consolas" pitchFamily="34" charset="-122"/>
                <a:cs typeface="Consolas" pitchFamily="34" charset="-120"/>
              </a:rPr>
              <a:t>app.UseDefaultFiles();</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app.UseStaticFiles();</a:t>
            </a:r>
            <a:endParaRPr lang="en-US" sz="850" dirty="0"/>
          </a:p>
          <a:p>
            <a:pPr indent="0" marL="0">
              <a:buNone/>
            </a:pP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app.MapControllers();</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app.MapFallbackToFile("index.html");</a:t>
            </a:r>
            <a:endParaRPr lang="en-US" sz="850" dirty="0"/>
          </a:p>
        </p:txBody>
      </p:sp>
      <p:sp>
        <p:nvSpPr>
          <p:cNvPr id="19" name="Shape 16"/>
          <p:cNvSpPr/>
          <p:nvPr/>
        </p:nvSpPr>
        <p:spPr>
          <a:xfrm>
            <a:off x="6080760" y="2834640"/>
            <a:ext cx="5212080" cy="1828800"/>
          </a:xfrm>
          <a:prstGeom prst="roundRect">
            <a:avLst>
              <a:gd name="adj" fmla="val 4000"/>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20" name="Text 17"/>
          <p:cNvSpPr/>
          <p:nvPr/>
        </p:nvSpPr>
        <p:spPr>
          <a:xfrm>
            <a:off x="6309360" y="3035808"/>
            <a:ext cx="475488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Key lesson</a:t>
            </a:r>
            <a:endParaRPr lang="en-US" sz="1500" dirty="0"/>
          </a:p>
        </p:txBody>
      </p:sp>
      <p:sp>
        <p:nvSpPr>
          <p:cNvPr id="21" name="Text 18"/>
          <p:cNvSpPr/>
          <p:nvPr/>
        </p:nvSpPr>
        <p:spPr>
          <a:xfrm>
            <a:off x="6309360" y="3419856"/>
            <a:ext cx="4754880" cy="1042416"/>
          </a:xfrm>
          <a:prstGeom prst="rect">
            <a:avLst/>
          </a:prstGeom>
          <a:noFill/>
          <a:ln/>
        </p:spPr>
        <p:txBody>
          <a:bodyPr wrap="square" lIns="254" tIns="254" rIns="254" bIns="254" rtlCol="0" anchor="t">
            <a:normAutofit/>
          </a:bodyPr>
          <a:lstStyle/>
          <a:p>
            <a:pPr indent="0" marL="0">
              <a:buNone/>
            </a:pPr>
            <a:r>
              <a:rPr lang="en-US" sz="1300" dirty="0">
                <a:solidFill>
                  <a:srgbClr val="15304A"/>
                </a:solidFill>
              </a:rPr>
              <a:t>wwwroot is not where we edit React. It is the public folder where ASP.NET Core serves the compiled production files. The editable source remains in frontend/src, and wwwroot is refreshed after every production build.</a:t>
            </a:r>
            <a:endParaRPr lang="en-US" sz="130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10896"/>
            <a:ext cx="2926080" cy="201168"/>
          </a:xfrm>
          <a:prstGeom prst="rect">
            <a:avLst/>
          </a:prstGeom>
          <a:noFill/>
          <a:ln/>
        </p:spPr>
        <p:txBody>
          <a:bodyPr wrap="square" lIns="0" tIns="0" rIns="0" bIns="0" rtlCol="0" anchor="ctr"/>
          <a:lstStyle/>
          <a:p>
            <a:pPr indent="0" marL="0">
              <a:buNone/>
            </a:pPr>
            <a:r>
              <a:rPr lang="en-US" sz="950" b="1" dirty="0">
                <a:solidFill>
                  <a:srgbClr val="B78314"/>
                </a:solidFill>
              </a:rPr>
              <a:t>Practical workflow</a:t>
            </a:r>
            <a:endParaRPr lang="en-US" sz="950" dirty="0"/>
          </a:p>
        </p:txBody>
      </p:sp>
      <p:sp>
        <p:nvSpPr>
          <p:cNvPr id="3" name="Text 1"/>
          <p:cNvSpPr/>
          <p:nvPr/>
        </p:nvSpPr>
        <p:spPr>
          <a:xfrm>
            <a:off x="594360" y="566928"/>
            <a:ext cx="10424160" cy="502920"/>
          </a:xfrm>
          <a:prstGeom prst="rect">
            <a:avLst/>
          </a:prstGeom>
          <a:noFill/>
          <a:ln/>
        </p:spPr>
        <p:txBody>
          <a:bodyPr wrap="square" lIns="0" tIns="0" rIns="0" bIns="0" rtlCol="0" anchor="ctr">
            <a:normAutofit/>
          </a:bodyPr>
          <a:lstStyle/>
          <a:p>
            <a:pPr indent="0" marL="0">
              <a:buNone/>
            </a:pPr>
            <a:r>
              <a:rPr lang="en-US" sz="2550" b="1" dirty="0">
                <a:solidFill>
                  <a:srgbClr val="10375F"/>
                </a:solidFill>
              </a:rPr>
              <a:t>wwwroot: start-to-end and updating steps</a:t>
            </a:r>
            <a:endParaRPr lang="en-US" sz="2550" dirty="0"/>
          </a:p>
        </p:txBody>
      </p:sp>
      <p:pic>
        <p:nvPicPr>
          <p:cNvPr id="4" name="Image 0" descr="/mnt/data/rentalpro_doc_assets/logo-mark.png">    </p:cNvPr>
          <p:cNvPicPr>
            <a:picLocks noChangeAspect="1"/>
          </p:cNvPicPr>
          <p:nvPr/>
        </p:nvPicPr>
        <p:blipFill>
          <a:blip r:embed="rId1"/>
          <a:stretch>
            <a:fillRect/>
          </a:stretch>
        </p:blipFill>
        <p:spPr>
          <a:xfrm>
            <a:off x="11109960" y="292608"/>
            <a:ext cx="438912" cy="438912"/>
          </a:xfrm>
          <a:prstGeom prst="rect">
            <a:avLst/>
          </a:prstGeom>
        </p:spPr>
      </p:pic>
      <p:pic>
        <p:nvPicPr>
          <p:cNvPr id="5" name="Image 1" descr="/mnt/data/image(241).png">    </p:cNvPr>
          <p:cNvPicPr>
            <a:picLocks noChangeAspect="1"/>
          </p:cNvPicPr>
          <p:nvPr/>
        </p:nvPicPr>
        <p:blipFill>
          <a:blip r:embed="rId2"/>
          <a:stretch>
            <a:fillRect/>
          </a:stretch>
        </p:blipFill>
        <p:spPr>
          <a:xfrm>
            <a:off x="6537960" y="1177913"/>
            <a:ext cx="4572000" cy="1704109"/>
          </a:xfrm>
          <a:prstGeom prst="rect">
            <a:avLst/>
          </a:prstGeom>
        </p:spPr>
      </p:pic>
      <p:pic>
        <p:nvPicPr>
          <p:cNvPr id="6" name="Image 2" descr="/mnt/data/image(240).png">    </p:cNvPr>
          <p:cNvPicPr>
            <a:picLocks noChangeAspect="1"/>
          </p:cNvPicPr>
          <p:nvPr/>
        </p:nvPicPr>
        <p:blipFill>
          <a:blip r:embed="rId3"/>
          <a:stretch>
            <a:fillRect/>
          </a:stretch>
        </p:blipFill>
        <p:spPr>
          <a:xfrm>
            <a:off x="7700147" y="3246120"/>
            <a:ext cx="2247626" cy="1874520"/>
          </a:xfrm>
          <a:prstGeom prst="rect">
            <a:avLst/>
          </a:prstGeom>
        </p:spPr>
      </p:pic>
      <p:sp>
        <p:nvSpPr>
          <p:cNvPr id="7" name="Shape 2"/>
          <p:cNvSpPr/>
          <p:nvPr/>
        </p:nvSpPr>
        <p:spPr>
          <a:xfrm>
            <a:off x="658368" y="1143000"/>
            <a:ext cx="402336" cy="402336"/>
          </a:xfrm>
          <a:prstGeom prst="ellipse">
            <a:avLst/>
          </a:prstGeom>
          <a:solidFill>
            <a:srgbClr val="E7B94B"/>
          </a:solidFill>
          <a:ln w="12700">
            <a:solidFill>
              <a:srgbClr val="E7B94B"/>
            </a:solidFill>
            <a:prstDash val="solid"/>
          </a:ln>
        </p:spPr>
      </p:sp>
      <p:sp>
        <p:nvSpPr>
          <p:cNvPr id="8" name="Text 3"/>
          <p:cNvSpPr/>
          <p:nvPr/>
        </p:nvSpPr>
        <p:spPr>
          <a:xfrm>
            <a:off x="658368" y="1225296"/>
            <a:ext cx="402336" cy="164592"/>
          </a:xfrm>
          <a:prstGeom prst="rect">
            <a:avLst/>
          </a:prstGeom>
          <a:noFill/>
          <a:ln/>
        </p:spPr>
        <p:txBody>
          <a:bodyPr wrap="square" lIns="0" tIns="0" rIns="0" bIns="0" rtlCol="0" anchor="ctr"/>
          <a:lstStyle/>
          <a:p>
            <a:pPr algn="ctr" indent="0" marL="0">
              <a:buNone/>
            </a:pPr>
            <a:r>
              <a:rPr lang="en-US" sz="1200" b="1" dirty="0">
                <a:solidFill>
                  <a:srgbClr val="10375F"/>
                </a:solidFill>
              </a:rPr>
              <a:t>1</a:t>
            </a:r>
            <a:endParaRPr lang="en-US" sz="1200" dirty="0"/>
          </a:p>
        </p:txBody>
      </p:sp>
      <p:sp>
        <p:nvSpPr>
          <p:cNvPr id="9" name="Text 4"/>
          <p:cNvSpPr/>
          <p:nvPr/>
        </p:nvSpPr>
        <p:spPr>
          <a:xfrm>
            <a:off x="1188720" y="1161288"/>
            <a:ext cx="5257800" cy="219456"/>
          </a:xfrm>
          <a:prstGeom prst="rect">
            <a:avLst/>
          </a:prstGeom>
          <a:noFill/>
          <a:ln/>
        </p:spPr>
        <p:txBody>
          <a:bodyPr wrap="square" lIns="0" tIns="0" rIns="0" bIns="0" rtlCol="0" anchor="ctr">
            <a:normAutofit/>
          </a:bodyPr>
          <a:lstStyle/>
          <a:p>
            <a:pPr indent="0" marL="0">
              <a:buNone/>
            </a:pPr>
            <a:r>
              <a:rPr lang="en-US" sz="1350" b="1" dirty="0">
                <a:solidFill>
                  <a:srgbClr val="10375F"/>
                </a:solidFill>
              </a:rPr>
              <a:t>Edit React source</a:t>
            </a:r>
            <a:endParaRPr lang="en-US" sz="1350" dirty="0"/>
          </a:p>
        </p:txBody>
      </p:sp>
      <p:sp>
        <p:nvSpPr>
          <p:cNvPr id="10" name="Text 5"/>
          <p:cNvSpPr/>
          <p:nvPr/>
        </p:nvSpPr>
        <p:spPr>
          <a:xfrm>
            <a:off x="1188720" y="1435608"/>
            <a:ext cx="5257800" cy="347472"/>
          </a:xfrm>
          <a:prstGeom prst="rect">
            <a:avLst/>
          </a:prstGeom>
          <a:noFill/>
          <a:ln/>
        </p:spPr>
        <p:txBody>
          <a:bodyPr wrap="square" lIns="0" tIns="0" rIns="0" bIns="0" rtlCol="0" anchor="ctr">
            <a:normAutofit/>
          </a:bodyPr>
          <a:lstStyle/>
          <a:p>
            <a:pPr indent="0" marL="0">
              <a:buNone/>
            </a:pPr>
            <a:r>
              <a:rPr lang="en-US" sz="1020" dirty="0">
                <a:solidFill>
                  <a:srgbClr val="15304A"/>
                </a:solidFill>
              </a:rPr>
              <a:t>Change frontend/src files such as Home.jsx, Header.jsx, styles.css or assets.</a:t>
            </a:r>
            <a:endParaRPr lang="en-US" sz="1020" dirty="0"/>
          </a:p>
        </p:txBody>
      </p:sp>
      <p:sp>
        <p:nvSpPr>
          <p:cNvPr id="11" name="Shape 6"/>
          <p:cNvSpPr/>
          <p:nvPr/>
        </p:nvSpPr>
        <p:spPr>
          <a:xfrm>
            <a:off x="658368" y="1965960"/>
            <a:ext cx="402336" cy="402336"/>
          </a:xfrm>
          <a:prstGeom prst="ellipse">
            <a:avLst/>
          </a:prstGeom>
          <a:solidFill>
            <a:srgbClr val="E7B94B"/>
          </a:solidFill>
          <a:ln w="12700">
            <a:solidFill>
              <a:srgbClr val="E7B94B"/>
            </a:solidFill>
            <a:prstDash val="solid"/>
          </a:ln>
        </p:spPr>
      </p:sp>
      <p:sp>
        <p:nvSpPr>
          <p:cNvPr id="12" name="Text 7"/>
          <p:cNvSpPr/>
          <p:nvPr/>
        </p:nvSpPr>
        <p:spPr>
          <a:xfrm>
            <a:off x="658368" y="2048256"/>
            <a:ext cx="402336" cy="164592"/>
          </a:xfrm>
          <a:prstGeom prst="rect">
            <a:avLst/>
          </a:prstGeom>
          <a:noFill/>
          <a:ln/>
        </p:spPr>
        <p:txBody>
          <a:bodyPr wrap="square" lIns="0" tIns="0" rIns="0" bIns="0" rtlCol="0" anchor="ctr"/>
          <a:lstStyle/>
          <a:p>
            <a:pPr algn="ctr" indent="0" marL="0">
              <a:buNone/>
            </a:pPr>
            <a:r>
              <a:rPr lang="en-US" sz="1200" b="1" dirty="0">
                <a:solidFill>
                  <a:srgbClr val="10375F"/>
                </a:solidFill>
              </a:rPr>
              <a:t>2</a:t>
            </a:r>
            <a:endParaRPr lang="en-US" sz="1200" dirty="0"/>
          </a:p>
        </p:txBody>
      </p:sp>
      <p:sp>
        <p:nvSpPr>
          <p:cNvPr id="13" name="Text 8"/>
          <p:cNvSpPr/>
          <p:nvPr/>
        </p:nvSpPr>
        <p:spPr>
          <a:xfrm>
            <a:off x="1188720" y="1984248"/>
            <a:ext cx="5257800" cy="219456"/>
          </a:xfrm>
          <a:prstGeom prst="rect">
            <a:avLst/>
          </a:prstGeom>
          <a:noFill/>
          <a:ln/>
        </p:spPr>
        <p:txBody>
          <a:bodyPr wrap="square" lIns="0" tIns="0" rIns="0" bIns="0" rtlCol="0" anchor="ctr">
            <a:normAutofit/>
          </a:bodyPr>
          <a:lstStyle/>
          <a:p>
            <a:pPr indent="0" marL="0">
              <a:buNone/>
            </a:pPr>
            <a:r>
              <a:rPr lang="en-US" sz="1350" b="1" dirty="0">
                <a:solidFill>
                  <a:srgbClr val="10375F"/>
                </a:solidFill>
              </a:rPr>
              <a:t>Build with Vite</a:t>
            </a:r>
            <a:endParaRPr lang="en-US" sz="1350" dirty="0"/>
          </a:p>
        </p:txBody>
      </p:sp>
      <p:sp>
        <p:nvSpPr>
          <p:cNvPr id="14" name="Text 9"/>
          <p:cNvSpPr/>
          <p:nvPr/>
        </p:nvSpPr>
        <p:spPr>
          <a:xfrm>
            <a:off x="1188720" y="2258568"/>
            <a:ext cx="5257800" cy="347472"/>
          </a:xfrm>
          <a:prstGeom prst="rect">
            <a:avLst/>
          </a:prstGeom>
          <a:noFill/>
          <a:ln/>
        </p:spPr>
        <p:txBody>
          <a:bodyPr wrap="square" lIns="0" tIns="0" rIns="0" bIns="0" rtlCol="0" anchor="ctr">
            <a:normAutofit/>
          </a:bodyPr>
          <a:lstStyle/>
          <a:p>
            <a:pPr indent="0" marL="0">
              <a:buNone/>
            </a:pPr>
            <a:r>
              <a:rPr lang="en-US" sz="1020" dirty="0">
                <a:solidFill>
                  <a:srgbClr val="15304A"/>
                </a:solidFill>
              </a:rPr>
              <a:t>Run npm run build. Vite outputs dist/index.html and dist/assets.</a:t>
            </a:r>
            <a:endParaRPr lang="en-US" sz="1020" dirty="0"/>
          </a:p>
        </p:txBody>
      </p:sp>
      <p:sp>
        <p:nvSpPr>
          <p:cNvPr id="15" name="Shape 10"/>
          <p:cNvSpPr/>
          <p:nvPr/>
        </p:nvSpPr>
        <p:spPr>
          <a:xfrm>
            <a:off x="658368" y="2788920"/>
            <a:ext cx="402336" cy="402336"/>
          </a:xfrm>
          <a:prstGeom prst="ellipse">
            <a:avLst/>
          </a:prstGeom>
          <a:solidFill>
            <a:srgbClr val="E7B94B"/>
          </a:solidFill>
          <a:ln w="12700">
            <a:solidFill>
              <a:srgbClr val="E7B94B"/>
            </a:solidFill>
            <a:prstDash val="solid"/>
          </a:ln>
        </p:spPr>
      </p:sp>
      <p:sp>
        <p:nvSpPr>
          <p:cNvPr id="16" name="Text 11"/>
          <p:cNvSpPr/>
          <p:nvPr/>
        </p:nvSpPr>
        <p:spPr>
          <a:xfrm>
            <a:off x="658368" y="2871216"/>
            <a:ext cx="402336" cy="164592"/>
          </a:xfrm>
          <a:prstGeom prst="rect">
            <a:avLst/>
          </a:prstGeom>
          <a:noFill/>
          <a:ln/>
        </p:spPr>
        <p:txBody>
          <a:bodyPr wrap="square" lIns="0" tIns="0" rIns="0" bIns="0" rtlCol="0" anchor="ctr"/>
          <a:lstStyle/>
          <a:p>
            <a:pPr algn="ctr" indent="0" marL="0">
              <a:buNone/>
            </a:pPr>
            <a:r>
              <a:rPr lang="en-US" sz="1200" b="1" dirty="0">
                <a:solidFill>
                  <a:srgbClr val="10375F"/>
                </a:solidFill>
              </a:rPr>
              <a:t>3</a:t>
            </a:r>
            <a:endParaRPr lang="en-US" sz="1200" dirty="0"/>
          </a:p>
        </p:txBody>
      </p:sp>
      <p:sp>
        <p:nvSpPr>
          <p:cNvPr id="17" name="Text 12"/>
          <p:cNvSpPr/>
          <p:nvPr/>
        </p:nvSpPr>
        <p:spPr>
          <a:xfrm>
            <a:off x="1188720" y="2807208"/>
            <a:ext cx="5257800" cy="219456"/>
          </a:xfrm>
          <a:prstGeom prst="rect">
            <a:avLst/>
          </a:prstGeom>
          <a:noFill/>
          <a:ln/>
        </p:spPr>
        <p:txBody>
          <a:bodyPr wrap="square" lIns="0" tIns="0" rIns="0" bIns="0" rtlCol="0" anchor="ctr">
            <a:normAutofit/>
          </a:bodyPr>
          <a:lstStyle/>
          <a:p>
            <a:pPr indent="0" marL="0">
              <a:buNone/>
            </a:pPr>
            <a:r>
              <a:rPr lang="en-US" sz="1350" b="1" dirty="0">
                <a:solidFill>
                  <a:srgbClr val="10375F"/>
                </a:solidFill>
              </a:rPr>
              <a:t>Copy dist contents</a:t>
            </a:r>
            <a:endParaRPr lang="en-US" sz="1350" dirty="0"/>
          </a:p>
        </p:txBody>
      </p:sp>
      <p:sp>
        <p:nvSpPr>
          <p:cNvPr id="18" name="Text 13"/>
          <p:cNvSpPr/>
          <p:nvPr/>
        </p:nvSpPr>
        <p:spPr>
          <a:xfrm>
            <a:off x="1188720" y="3081528"/>
            <a:ext cx="5257800" cy="347472"/>
          </a:xfrm>
          <a:prstGeom prst="rect">
            <a:avLst/>
          </a:prstGeom>
          <a:noFill/>
          <a:ln/>
        </p:spPr>
        <p:txBody>
          <a:bodyPr wrap="square" lIns="0" tIns="0" rIns="0" bIns="0" rtlCol="0" anchor="ctr">
            <a:normAutofit/>
          </a:bodyPr>
          <a:lstStyle/>
          <a:p>
            <a:pPr indent="0" marL="0">
              <a:buNone/>
            </a:pPr>
            <a:r>
              <a:rPr lang="en-US" sz="1020" dirty="0">
                <a:solidFill>
                  <a:srgbClr val="15304A"/>
                </a:solidFill>
              </a:rPr>
              <a:t>Copy the contents of frontend/dist directly into backend/RentalProRMS.Api/wwwroot.</a:t>
            </a:r>
            <a:endParaRPr lang="en-US" sz="1020" dirty="0"/>
          </a:p>
        </p:txBody>
      </p:sp>
      <p:sp>
        <p:nvSpPr>
          <p:cNvPr id="19" name="Shape 14"/>
          <p:cNvSpPr/>
          <p:nvPr/>
        </p:nvSpPr>
        <p:spPr>
          <a:xfrm>
            <a:off x="658368" y="3611880"/>
            <a:ext cx="402336" cy="402336"/>
          </a:xfrm>
          <a:prstGeom prst="ellipse">
            <a:avLst/>
          </a:prstGeom>
          <a:solidFill>
            <a:srgbClr val="E7B94B"/>
          </a:solidFill>
          <a:ln w="12700">
            <a:solidFill>
              <a:srgbClr val="E7B94B"/>
            </a:solidFill>
            <a:prstDash val="solid"/>
          </a:ln>
        </p:spPr>
      </p:sp>
      <p:sp>
        <p:nvSpPr>
          <p:cNvPr id="20" name="Text 15"/>
          <p:cNvSpPr/>
          <p:nvPr/>
        </p:nvSpPr>
        <p:spPr>
          <a:xfrm>
            <a:off x="658368" y="3694176"/>
            <a:ext cx="402336" cy="164592"/>
          </a:xfrm>
          <a:prstGeom prst="rect">
            <a:avLst/>
          </a:prstGeom>
          <a:noFill/>
          <a:ln/>
        </p:spPr>
        <p:txBody>
          <a:bodyPr wrap="square" lIns="0" tIns="0" rIns="0" bIns="0" rtlCol="0" anchor="ctr"/>
          <a:lstStyle/>
          <a:p>
            <a:pPr algn="ctr" indent="0" marL="0">
              <a:buNone/>
            </a:pPr>
            <a:r>
              <a:rPr lang="en-US" sz="1200" b="1" dirty="0">
                <a:solidFill>
                  <a:srgbClr val="10375F"/>
                </a:solidFill>
              </a:rPr>
              <a:t>4</a:t>
            </a:r>
            <a:endParaRPr lang="en-US" sz="1200" dirty="0"/>
          </a:p>
        </p:txBody>
      </p:sp>
      <p:sp>
        <p:nvSpPr>
          <p:cNvPr id="21" name="Text 16"/>
          <p:cNvSpPr/>
          <p:nvPr/>
        </p:nvSpPr>
        <p:spPr>
          <a:xfrm>
            <a:off x="1188720" y="3630168"/>
            <a:ext cx="5257800" cy="219456"/>
          </a:xfrm>
          <a:prstGeom prst="rect">
            <a:avLst/>
          </a:prstGeom>
          <a:noFill/>
          <a:ln/>
        </p:spPr>
        <p:txBody>
          <a:bodyPr wrap="square" lIns="0" tIns="0" rIns="0" bIns="0" rtlCol="0" anchor="ctr">
            <a:normAutofit/>
          </a:bodyPr>
          <a:lstStyle/>
          <a:p>
            <a:pPr indent="0" marL="0">
              <a:buNone/>
            </a:pPr>
            <a:r>
              <a:rPr lang="en-US" sz="1350" b="1" dirty="0">
                <a:solidFill>
                  <a:srgbClr val="10375F"/>
                </a:solidFill>
              </a:rPr>
              <a:t>Restart and refresh</a:t>
            </a:r>
            <a:endParaRPr lang="en-US" sz="1350" dirty="0"/>
          </a:p>
        </p:txBody>
      </p:sp>
      <p:sp>
        <p:nvSpPr>
          <p:cNvPr id="22" name="Text 17"/>
          <p:cNvSpPr/>
          <p:nvPr/>
        </p:nvSpPr>
        <p:spPr>
          <a:xfrm>
            <a:off x="1188720" y="3904488"/>
            <a:ext cx="5257800" cy="347472"/>
          </a:xfrm>
          <a:prstGeom prst="rect">
            <a:avLst/>
          </a:prstGeom>
          <a:noFill/>
          <a:ln/>
        </p:spPr>
        <p:txBody>
          <a:bodyPr wrap="square" lIns="0" tIns="0" rIns="0" bIns="0" rtlCol="0" anchor="ctr">
            <a:normAutofit/>
          </a:bodyPr>
          <a:lstStyle/>
          <a:p>
            <a:pPr indent="0" marL="0">
              <a:buNone/>
            </a:pPr>
            <a:r>
              <a:rPr lang="en-US" sz="1020" dirty="0">
                <a:solidFill>
                  <a:srgbClr val="15304A"/>
                </a:solidFill>
              </a:rPr>
              <a:t>Restart ASP.NET Core and use Ctrl+F5 to clear cached JavaScript/CSS.</a:t>
            </a:r>
            <a:endParaRPr lang="en-US" sz="1020" dirty="0"/>
          </a:p>
        </p:txBody>
      </p:sp>
      <p:sp>
        <p:nvSpPr>
          <p:cNvPr id="23" name="Shape 18"/>
          <p:cNvSpPr/>
          <p:nvPr/>
        </p:nvSpPr>
        <p:spPr>
          <a:xfrm>
            <a:off x="658368" y="4434840"/>
            <a:ext cx="402336" cy="402336"/>
          </a:xfrm>
          <a:prstGeom prst="ellipse">
            <a:avLst/>
          </a:prstGeom>
          <a:solidFill>
            <a:srgbClr val="E7B94B"/>
          </a:solidFill>
          <a:ln w="12700">
            <a:solidFill>
              <a:srgbClr val="E7B94B"/>
            </a:solidFill>
            <a:prstDash val="solid"/>
          </a:ln>
        </p:spPr>
      </p:sp>
      <p:sp>
        <p:nvSpPr>
          <p:cNvPr id="24" name="Text 19"/>
          <p:cNvSpPr/>
          <p:nvPr/>
        </p:nvSpPr>
        <p:spPr>
          <a:xfrm>
            <a:off x="658368" y="4517136"/>
            <a:ext cx="402336" cy="164592"/>
          </a:xfrm>
          <a:prstGeom prst="rect">
            <a:avLst/>
          </a:prstGeom>
          <a:noFill/>
          <a:ln/>
        </p:spPr>
        <p:txBody>
          <a:bodyPr wrap="square" lIns="0" tIns="0" rIns="0" bIns="0" rtlCol="0" anchor="ctr"/>
          <a:lstStyle/>
          <a:p>
            <a:pPr algn="ctr" indent="0" marL="0">
              <a:buNone/>
            </a:pPr>
            <a:r>
              <a:rPr lang="en-US" sz="1200" b="1" dirty="0">
                <a:solidFill>
                  <a:srgbClr val="10375F"/>
                </a:solidFill>
              </a:rPr>
              <a:t>5</a:t>
            </a:r>
            <a:endParaRPr lang="en-US" sz="1200" dirty="0"/>
          </a:p>
        </p:txBody>
      </p:sp>
      <p:sp>
        <p:nvSpPr>
          <p:cNvPr id="25" name="Text 20"/>
          <p:cNvSpPr/>
          <p:nvPr/>
        </p:nvSpPr>
        <p:spPr>
          <a:xfrm>
            <a:off x="1188720" y="4453128"/>
            <a:ext cx="5257800" cy="219456"/>
          </a:xfrm>
          <a:prstGeom prst="rect">
            <a:avLst/>
          </a:prstGeom>
          <a:noFill/>
          <a:ln/>
        </p:spPr>
        <p:txBody>
          <a:bodyPr wrap="square" lIns="0" tIns="0" rIns="0" bIns="0" rtlCol="0" anchor="ctr">
            <a:normAutofit/>
          </a:bodyPr>
          <a:lstStyle/>
          <a:p>
            <a:pPr indent="0" marL="0">
              <a:buNone/>
            </a:pPr>
            <a:r>
              <a:rPr lang="en-US" sz="1350" b="1" dirty="0">
                <a:solidFill>
                  <a:srgbClr val="10375F"/>
                </a:solidFill>
              </a:rPr>
              <a:t>Verify connection</a:t>
            </a:r>
            <a:endParaRPr lang="en-US" sz="1350" dirty="0"/>
          </a:p>
        </p:txBody>
      </p:sp>
      <p:sp>
        <p:nvSpPr>
          <p:cNvPr id="26" name="Text 21"/>
          <p:cNvSpPr/>
          <p:nvPr/>
        </p:nvSpPr>
        <p:spPr>
          <a:xfrm>
            <a:off x="1188720" y="4727448"/>
            <a:ext cx="5257800" cy="347472"/>
          </a:xfrm>
          <a:prstGeom prst="rect">
            <a:avLst/>
          </a:prstGeom>
          <a:noFill/>
          <a:ln/>
        </p:spPr>
        <p:txBody>
          <a:bodyPr wrap="square" lIns="0" tIns="0" rIns="0" bIns="0" rtlCol="0" anchor="ctr">
            <a:normAutofit/>
          </a:bodyPr>
          <a:lstStyle/>
          <a:p>
            <a:pPr indent="0" marL="0">
              <a:buNone/>
            </a:pPr>
            <a:r>
              <a:rPr lang="en-US" sz="1020" dirty="0">
                <a:solidFill>
                  <a:srgbClr val="15304A"/>
                </a:solidFill>
              </a:rPr>
              <a:t>Open /api/Properties and browser Network tab to confirm status 200 responses.</a:t>
            </a:r>
            <a:endParaRPr lang="en-US" sz="1020" dirty="0"/>
          </a:p>
        </p:txBody>
      </p:sp>
      <p:sp>
        <p:nvSpPr>
          <p:cNvPr id="27" name="Shape 22"/>
          <p:cNvSpPr/>
          <p:nvPr/>
        </p:nvSpPr>
        <p:spPr>
          <a:xfrm>
            <a:off x="868680" y="5532120"/>
            <a:ext cx="5486400" cy="292608"/>
          </a:xfrm>
          <a:prstGeom prst="roundRect">
            <a:avLst>
              <a:gd name="adj" fmla="val 25000"/>
            </a:avLst>
          </a:prstGeom>
          <a:solidFill>
            <a:srgbClr val="E7B94B"/>
          </a:solidFill>
          <a:ln w="12700">
            <a:solidFill>
              <a:srgbClr val="E7B94B"/>
            </a:solidFill>
            <a:prstDash val="solid"/>
          </a:ln>
          <a:effectLst>
            <a:outerShdw sx="100000" sy="100000" kx="0" ky="0" algn="bl" rotWithShape="0" blurRad="12700" dist="12700" dir="2700000">
              <a:srgbClr val="000000">
                <a:alpha val="6000"/>
              </a:srgbClr>
            </a:outerShdw>
          </a:effectLst>
        </p:spPr>
      </p:sp>
      <p:sp>
        <p:nvSpPr>
          <p:cNvPr id="28" name="Text 23"/>
          <p:cNvSpPr/>
          <p:nvPr/>
        </p:nvSpPr>
        <p:spPr>
          <a:xfrm>
            <a:off x="941832" y="5600700"/>
            <a:ext cx="5340096" cy="128016"/>
          </a:xfrm>
          <a:prstGeom prst="rect">
            <a:avLst/>
          </a:prstGeom>
          <a:noFill/>
          <a:ln/>
        </p:spPr>
        <p:txBody>
          <a:bodyPr wrap="square" lIns="0" tIns="0" rIns="0" bIns="0" rtlCol="0" anchor="ctr"/>
          <a:lstStyle/>
          <a:p>
            <a:pPr algn="ctr" indent="0" marL="0">
              <a:buNone/>
            </a:pPr>
            <a:r>
              <a:rPr lang="en-US" sz="950" b="1" dirty="0">
                <a:solidFill>
                  <a:srgbClr val="10375F"/>
                </a:solidFill>
              </a:rPr>
              <a:t>Important: copy dist contents, not the dist folder itself.</a:t>
            </a:r>
            <a:endParaRPr lang="en-US" sz="95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10896"/>
            <a:ext cx="2926080" cy="201168"/>
          </a:xfrm>
          <a:prstGeom prst="rect">
            <a:avLst/>
          </a:prstGeom>
          <a:noFill/>
          <a:ln/>
        </p:spPr>
        <p:txBody>
          <a:bodyPr wrap="square" lIns="0" tIns="0" rIns="0" bIns="0" rtlCol="0" anchor="ctr"/>
          <a:lstStyle/>
          <a:p>
            <a:pPr indent="0" marL="0">
              <a:buNone/>
            </a:pPr>
            <a:r>
              <a:rPr lang="en-US" sz="950" b="1" dirty="0">
                <a:solidFill>
                  <a:srgbClr val="B78314"/>
                </a:solidFill>
              </a:rPr>
              <a:t>Backend object management</a:t>
            </a:r>
            <a:endParaRPr lang="en-US" sz="950" dirty="0"/>
          </a:p>
        </p:txBody>
      </p:sp>
      <p:sp>
        <p:nvSpPr>
          <p:cNvPr id="3" name="Text 1"/>
          <p:cNvSpPr/>
          <p:nvPr/>
        </p:nvSpPr>
        <p:spPr>
          <a:xfrm>
            <a:off x="594360" y="566928"/>
            <a:ext cx="10424160" cy="502920"/>
          </a:xfrm>
          <a:prstGeom prst="rect">
            <a:avLst/>
          </a:prstGeom>
          <a:noFill/>
          <a:ln/>
        </p:spPr>
        <p:txBody>
          <a:bodyPr wrap="square" lIns="0" tIns="0" rIns="0" bIns="0" rtlCol="0" anchor="ctr">
            <a:normAutofit/>
          </a:bodyPr>
          <a:lstStyle/>
          <a:p>
            <a:pPr indent="0" marL="0">
              <a:buNone/>
            </a:pPr>
            <a:r>
              <a:rPr lang="en-US" sz="2550" b="1" dirty="0">
                <a:solidFill>
                  <a:srgbClr val="10375F"/>
                </a:solidFill>
              </a:rPr>
              <a:t>What I learned: Dependency Injection</a:t>
            </a:r>
            <a:endParaRPr lang="en-US" sz="2550" dirty="0"/>
          </a:p>
        </p:txBody>
      </p:sp>
      <p:pic>
        <p:nvPicPr>
          <p:cNvPr id="4" name="Image 0" descr="/mnt/data/rentalpro_doc_assets/logo-mark.png">    </p:cNvPr>
          <p:cNvPicPr>
            <a:picLocks noChangeAspect="1"/>
          </p:cNvPicPr>
          <p:nvPr/>
        </p:nvPicPr>
        <p:blipFill>
          <a:blip r:embed="rId1"/>
          <a:stretch>
            <a:fillRect/>
          </a:stretch>
        </p:blipFill>
        <p:spPr>
          <a:xfrm>
            <a:off x="11109960" y="292608"/>
            <a:ext cx="438912" cy="438912"/>
          </a:xfrm>
          <a:prstGeom prst="rect">
            <a:avLst/>
          </a:prstGeom>
        </p:spPr>
      </p:pic>
      <p:sp>
        <p:nvSpPr>
          <p:cNvPr id="5" name="Shape 2"/>
          <p:cNvSpPr/>
          <p:nvPr/>
        </p:nvSpPr>
        <p:spPr>
          <a:xfrm>
            <a:off x="713232" y="1234440"/>
            <a:ext cx="2880360" cy="4297680"/>
          </a:xfrm>
          <a:prstGeom prst="roundRect">
            <a:avLst>
              <a:gd name="adj" fmla="val 2540"/>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6" name="Text 3"/>
          <p:cNvSpPr/>
          <p:nvPr/>
        </p:nvSpPr>
        <p:spPr>
          <a:xfrm>
            <a:off x="941832" y="1435608"/>
            <a:ext cx="24231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Without DI</a:t>
            </a:r>
            <a:endParaRPr lang="en-US" sz="1500" dirty="0"/>
          </a:p>
        </p:txBody>
      </p:sp>
      <p:sp>
        <p:nvSpPr>
          <p:cNvPr id="7" name="Text 4"/>
          <p:cNvSpPr/>
          <p:nvPr/>
        </p:nvSpPr>
        <p:spPr>
          <a:xfrm>
            <a:off x="941832" y="1819656"/>
            <a:ext cx="2423160" cy="3511296"/>
          </a:xfrm>
          <a:prstGeom prst="rect">
            <a:avLst/>
          </a:prstGeom>
          <a:noFill/>
          <a:ln/>
        </p:spPr>
        <p:txBody>
          <a:bodyPr wrap="square" lIns="254" tIns="254" rIns="254" bIns="254" rtlCol="0" anchor="t">
            <a:normAutofit/>
          </a:bodyPr>
          <a:lstStyle/>
          <a:p>
            <a:pPr indent="0" marL="0">
              <a:buNone/>
            </a:pPr>
            <a:r>
              <a:rPr lang="en-US" sz="1330" dirty="0">
                <a:solidFill>
                  <a:srgbClr val="15304A"/>
                </a:solidFill>
              </a:rPr>
              <a:t>Every controller would manually create its own data classes. That creates repeated code and makes the system harder to test or change.</a:t>
            </a:r>
            <a:endParaRPr lang="en-US" sz="1330" dirty="0"/>
          </a:p>
        </p:txBody>
      </p:sp>
      <p:sp>
        <p:nvSpPr>
          <p:cNvPr id="8" name="Shape 5"/>
          <p:cNvSpPr/>
          <p:nvPr/>
        </p:nvSpPr>
        <p:spPr>
          <a:xfrm>
            <a:off x="4645152" y="1234440"/>
            <a:ext cx="2880360" cy="4297680"/>
          </a:xfrm>
          <a:prstGeom prst="roundRect">
            <a:avLst>
              <a:gd name="adj" fmla="val 2540"/>
            </a:avLst>
          </a:prstGeom>
          <a:solidFill>
            <a:srgbClr val="FFF7DF"/>
          </a:solidFill>
          <a:ln w="12700">
            <a:solidFill>
              <a:srgbClr val="E7B94B"/>
            </a:solidFill>
            <a:prstDash val="solid"/>
          </a:ln>
          <a:effectLst>
            <a:outerShdw sx="100000" sy="100000" kx="0" ky="0" algn="bl" rotWithShape="0" blurRad="25400" dist="12700" dir="2700000">
              <a:srgbClr val="000000">
                <a:alpha val="12000"/>
              </a:srgbClr>
            </a:outerShdw>
          </a:effectLst>
        </p:spPr>
      </p:sp>
      <p:sp>
        <p:nvSpPr>
          <p:cNvPr id="9" name="Text 6"/>
          <p:cNvSpPr/>
          <p:nvPr/>
        </p:nvSpPr>
        <p:spPr>
          <a:xfrm>
            <a:off x="4873752" y="1435608"/>
            <a:ext cx="24231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DI container</a:t>
            </a:r>
            <a:endParaRPr lang="en-US" sz="1500" dirty="0"/>
          </a:p>
        </p:txBody>
      </p:sp>
      <p:sp>
        <p:nvSpPr>
          <p:cNvPr id="10" name="Text 7"/>
          <p:cNvSpPr/>
          <p:nvPr/>
        </p:nvSpPr>
        <p:spPr>
          <a:xfrm>
            <a:off x="4873752" y="1819656"/>
            <a:ext cx="2423160" cy="3511296"/>
          </a:xfrm>
          <a:prstGeom prst="rect">
            <a:avLst/>
          </a:prstGeom>
          <a:noFill/>
          <a:ln/>
        </p:spPr>
        <p:txBody>
          <a:bodyPr wrap="square" lIns="254" tIns="254" rIns="254" bIns="254" rtlCol="0" anchor="t">
            <a:normAutofit/>
          </a:bodyPr>
          <a:lstStyle/>
          <a:p>
            <a:pPr indent="0" marL="0">
              <a:buNone/>
            </a:pPr>
            <a:r>
              <a:rPr lang="en-US" sz="1330" dirty="0">
                <a:solidFill>
                  <a:srgbClr val="15304A"/>
                </a:solidFill>
              </a:rPr>
              <a:t>Program.cs registers the classes once. ASP.NET Core creates them when a controller asks for them.</a:t>
            </a:r>
            <a:endParaRPr lang="en-US" sz="1330" dirty="0"/>
          </a:p>
        </p:txBody>
      </p:sp>
      <p:sp>
        <p:nvSpPr>
          <p:cNvPr id="11" name="Shape 8"/>
          <p:cNvSpPr/>
          <p:nvPr/>
        </p:nvSpPr>
        <p:spPr>
          <a:xfrm>
            <a:off x="8577072" y="1234440"/>
            <a:ext cx="2880360" cy="4297680"/>
          </a:xfrm>
          <a:prstGeom prst="roundRect">
            <a:avLst>
              <a:gd name="adj" fmla="val 2540"/>
            </a:avLst>
          </a:prstGeom>
          <a:solidFill>
            <a:srgbClr val="EAF2F9"/>
          </a:solidFill>
          <a:ln w="12700">
            <a:solidFill>
              <a:srgbClr val="174A7E"/>
            </a:solidFill>
            <a:prstDash val="solid"/>
          </a:ln>
          <a:effectLst>
            <a:outerShdw sx="100000" sy="100000" kx="0" ky="0" algn="bl" rotWithShape="0" blurRad="25400" dist="12700" dir="2700000">
              <a:srgbClr val="000000">
                <a:alpha val="12000"/>
              </a:srgbClr>
            </a:outerShdw>
          </a:effectLst>
        </p:spPr>
      </p:sp>
      <p:sp>
        <p:nvSpPr>
          <p:cNvPr id="12" name="Text 9"/>
          <p:cNvSpPr/>
          <p:nvPr/>
        </p:nvSpPr>
        <p:spPr>
          <a:xfrm>
            <a:off x="8805672" y="1435608"/>
            <a:ext cx="24231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With DI</a:t>
            </a:r>
            <a:endParaRPr lang="en-US" sz="1500" dirty="0"/>
          </a:p>
        </p:txBody>
      </p:sp>
      <p:sp>
        <p:nvSpPr>
          <p:cNvPr id="13" name="Text 10"/>
          <p:cNvSpPr/>
          <p:nvPr/>
        </p:nvSpPr>
        <p:spPr>
          <a:xfrm>
            <a:off x="8805672" y="1819656"/>
            <a:ext cx="2423160" cy="3511296"/>
          </a:xfrm>
          <a:prstGeom prst="rect">
            <a:avLst/>
          </a:prstGeom>
          <a:noFill/>
          <a:ln/>
        </p:spPr>
        <p:txBody>
          <a:bodyPr wrap="square" lIns="254" tIns="254" rIns="254" bIns="254" rtlCol="0" anchor="t">
            <a:normAutofit/>
          </a:bodyPr>
          <a:lstStyle/>
          <a:p>
            <a:pPr indent="0" marL="0">
              <a:buNone/>
            </a:pPr>
            <a:r>
              <a:rPr lang="en-US" sz="1330" dirty="0">
                <a:solidFill>
                  <a:srgbClr val="15304A"/>
                </a:solidFill>
              </a:rPr>
              <a:t>PropertiesController receives PropertyData and OwnerData through its constructor, so it can focus on HTTP rules and validation.</a:t>
            </a:r>
            <a:endParaRPr lang="en-US" sz="1330" dirty="0"/>
          </a:p>
        </p:txBody>
      </p:sp>
      <p:sp>
        <p:nvSpPr>
          <p:cNvPr id="14" name="Shape 11"/>
          <p:cNvSpPr/>
          <p:nvPr/>
        </p:nvSpPr>
        <p:spPr>
          <a:xfrm>
            <a:off x="3639312" y="3429000"/>
            <a:ext cx="768096" cy="0"/>
          </a:xfrm>
          <a:prstGeom prst="line">
            <a:avLst/>
          </a:prstGeom>
          <a:noFill/>
          <a:ln w="27940">
            <a:solidFill>
              <a:srgbClr val="B78314"/>
            </a:solidFill>
            <a:prstDash val="solid"/>
            <a:headEnd type="none"/>
            <a:tailEnd type="triangle"/>
          </a:ln>
        </p:spPr>
      </p:sp>
      <p:sp>
        <p:nvSpPr>
          <p:cNvPr id="15" name="Shape 12"/>
          <p:cNvSpPr/>
          <p:nvPr/>
        </p:nvSpPr>
        <p:spPr>
          <a:xfrm>
            <a:off x="7571232" y="3429000"/>
            <a:ext cx="768096" cy="0"/>
          </a:xfrm>
          <a:prstGeom prst="line">
            <a:avLst/>
          </a:prstGeom>
          <a:noFill/>
          <a:ln w="27940">
            <a:solidFill>
              <a:srgbClr val="174A7E"/>
            </a:solidFill>
            <a:prstDash val="solid"/>
            <a:headEnd type="none"/>
            <a:tailEnd type="triangle"/>
          </a:ln>
        </p:spPr>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10896"/>
            <a:ext cx="2926080" cy="201168"/>
          </a:xfrm>
          <a:prstGeom prst="rect">
            <a:avLst/>
          </a:prstGeom>
          <a:noFill/>
          <a:ln/>
        </p:spPr>
        <p:txBody>
          <a:bodyPr wrap="square" lIns="0" tIns="0" rIns="0" bIns="0" rtlCol="0" anchor="ctr"/>
          <a:lstStyle/>
          <a:p>
            <a:pPr indent="0" marL="0">
              <a:buNone/>
            </a:pPr>
            <a:r>
              <a:rPr lang="en-US" sz="950" b="1" dirty="0">
                <a:solidFill>
                  <a:srgbClr val="B78314"/>
                </a:solidFill>
              </a:rPr>
              <a:t>Installation, registration and constructor use</a:t>
            </a:r>
            <a:endParaRPr lang="en-US" sz="950" dirty="0"/>
          </a:p>
        </p:txBody>
      </p:sp>
      <p:sp>
        <p:nvSpPr>
          <p:cNvPr id="3" name="Text 1"/>
          <p:cNvSpPr/>
          <p:nvPr/>
        </p:nvSpPr>
        <p:spPr>
          <a:xfrm>
            <a:off x="594360" y="566928"/>
            <a:ext cx="10424160" cy="502920"/>
          </a:xfrm>
          <a:prstGeom prst="rect">
            <a:avLst/>
          </a:prstGeom>
          <a:noFill/>
          <a:ln/>
        </p:spPr>
        <p:txBody>
          <a:bodyPr wrap="square" lIns="0" tIns="0" rIns="0" bIns="0" rtlCol="0" anchor="ctr">
            <a:normAutofit/>
          </a:bodyPr>
          <a:lstStyle/>
          <a:p>
            <a:pPr indent="0" marL="0">
              <a:buNone/>
            </a:pPr>
            <a:r>
              <a:rPr lang="en-US" sz="2550" b="1" dirty="0">
                <a:solidFill>
                  <a:srgbClr val="10375F"/>
                </a:solidFill>
              </a:rPr>
              <a:t>Dependency Injection implementation</a:t>
            </a:r>
            <a:endParaRPr lang="en-US" sz="2550" dirty="0"/>
          </a:p>
        </p:txBody>
      </p:sp>
      <p:pic>
        <p:nvPicPr>
          <p:cNvPr id="4" name="Image 0" descr="/mnt/data/rentalpro_doc_assets/logo-mark.png">    </p:cNvPr>
          <p:cNvPicPr>
            <a:picLocks noChangeAspect="1"/>
          </p:cNvPicPr>
          <p:nvPr/>
        </p:nvPicPr>
        <p:blipFill>
          <a:blip r:embed="rId1"/>
          <a:stretch>
            <a:fillRect/>
          </a:stretch>
        </p:blipFill>
        <p:spPr>
          <a:xfrm>
            <a:off x="11109960" y="292608"/>
            <a:ext cx="438912" cy="438912"/>
          </a:xfrm>
          <a:prstGeom prst="rect">
            <a:avLst/>
          </a:prstGeom>
        </p:spPr>
      </p:pic>
      <p:sp>
        <p:nvSpPr>
          <p:cNvPr id="5" name="Shape 2"/>
          <p:cNvSpPr/>
          <p:nvPr/>
        </p:nvSpPr>
        <p:spPr>
          <a:xfrm>
            <a:off x="685800" y="1234440"/>
            <a:ext cx="5029200" cy="731520"/>
          </a:xfrm>
          <a:prstGeom prst="roundRect">
            <a:avLst>
              <a:gd name="adj" fmla="val 6250"/>
            </a:avLst>
          </a:prstGeom>
          <a:solidFill>
            <a:srgbClr val="0B1720"/>
          </a:solidFill>
          <a:ln w="12700">
            <a:solidFill>
              <a:srgbClr val="0B1720"/>
            </a:solidFill>
            <a:prstDash val="solid"/>
          </a:ln>
          <a:effectLst>
            <a:outerShdw sx="100000" sy="100000" kx="0" ky="0" algn="bl" rotWithShape="0" blurRad="25400" dist="12700" dir="2700000">
              <a:srgbClr val="000000">
                <a:alpha val="18000"/>
              </a:srgbClr>
            </a:outerShdw>
          </a:effectLst>
        </p:spPr>
      </p:sp>
      <p:sp>
        <p:nvSpPr>
          <p:cNvPr id="6" name="Text 3"/>
          <p:cNvSpPr/>
          <p:nvPr/>
        </p:nvSpPr>
        <p:spPr>
          <a:xfrm>
            <a:off x="850392" y="1344168"/>
            <a:ext cx="4700016" cy="182880"/>
          </a:xfrm>
          <a:prstGeom prst="rect">
            <a:avLst/>
          </a:prstGeom>
          <a:noFill/>
          <a:ln/>
        </p:spPr>
        <p:txBody>
          <a:bodyPr wrap="square" lIns="0" tIns="0" rIns="0" bIns="0" rtlCol="0" anchor="ctr"/>
          <a:lstStyle/>
          <a:p>
            <a:pPr indent="0" marL="0">
              <a:buNone/>
            </a:pPr>
            <a:r>
              <a:rPr lang="en-US" sz="900" b="1" dirty="0">
                <a:solidFill>
                  <a:srgbClr val="E7B94B"/>
                </a:solidFill>
              </a:rPr>
              <a:t>Package used for SQL Server access</a:t>
            </a:r>
            <a:endParaRPr lang="en-US" sz="900" dirty="0"/>
          </a:p>
        </p:txBody>
      </p:sp>
      <p:sp>
        <p:nvSpPr>
          <p:cNvPr id="7" name="Text 4"/>
          <p:cNvSpPr/>
          <p:nvPr/>
        </p:nvSpPr>
        <p:spPr>
          <a:xfrm>
            <a:off x="850392" y="1618488"/>
            <a:ext cx="4700016" cy="219456"/>
          </a:xfrm>
          <a:prstGeom prst="rect">
            <a:avLst/>
          </a:prstGeom>
          <a:noFill/>
          <a:ln/>
        </p:spPr>
        <p:txBody>
          <a:bodyPr wrap="square" lIns="0" tIns="0" rIns="0" bIns="0" rtlCol="0" anchor="t">
            <a:normAutofit/>
          </a:bodyPr>
          <a:lstStyle/>
          <a:p>
            <a:pPr indent="0" marL="0">
              <a:buNone/>
            </a:pPr>
            <a:r>
              <a:rPr lang="en-US" sz="850" dirty="0">
                <a:solidFill>
                  <a:srgbClr val="E8F1FF"/>
                </a:solidFill>
                <a:latin typeface="Consolas" pitchFamily="34" charset="0"/>
                <a:ea typeface="Consolas" pitchFamily="34" charset="-122"/>
                <a:cs typeface="Consolas" pitchFamily="34" charset="-120"/>
              </a:rPr>
              <a:t>dotnet add package Microsoft.Data.SqlClient</a:t>
            </a:r>
            <a:endParaRPr lang="en-US" sz="850" dirty="0"/>
          </a:p>
        </p:txBody>
      </p:sp>
      <p:sp>
        <p:nvSpPr>
          <p:cNvPr id="8" name="Shape 5"/>
          <p:cNvSpPr/>
          <p:nvPr/>
        </p:nvSpPr>
        <p:spPr>
          <a:xfrm>
            <a:off x="685800" y="2240280"/>
            <a:ext cx="5029200" cy="1965960"/>
          </a:xfrm>
          <a:prstGeom prst="roundRect">
            <a:avLst>
              <a:gd name="adj" fmla="val 2326"/>
            </a:avLst>
          </a:prstGeom>
          <a:solidFill>
            <a:srgbClr val="0B1720"/>
          </a:solidFill>
          <a:ln w="12700">
            <a:solidFill>
              <a:srgbClr val="0B1720"/>
            </a:solidFill>
            <a:prstDash val="solid"/>
          </a:ln>
          <a:effectLst>
            <a:outerShdw sx="100000" sy="100000" kx="0" ky="0" algn="bl" rotWithShape="0" blurRad="25400" dist="12700" dir="2700000">
              <a:srgbClr val="000000">
                <a:alpha val="18000"/>
              </a:srgbClr>
            </a:outerShdw>
          </a:effectLst>
        </p:spPr>
      </p:sp>
      <p:sp>
        <p:nvSpPr>
          <p:cNvPr id="9" name="Text 6"/>
          <p:cNvSpPr/>
          <p:nvPr/>
        </p:nvSpPr>
        <p:spPr>
          <a:xfrm>
            <a:off x="850392" y="2350008"/>
            <a:ext cx="4700016" cy="182880"/>
          </a:xfrm>
          <a:prstGeom prst="rect">
            <a:avLst/>
          </a:prstGeom>
          <a:noFill/>
          <a:ln/>
        </p:spPr>
        <p:txBody>
          <a:bodyPr wrap="square" lIns="0" tIns="0" rIns="0" bIns="0" rtlCol="0" anchor="ctr"/>
          <a:lstStyle/>
          <a:p>
            <a:pPr indent="0" marL="0">
              <a:buNone/>
            </a:pPr>
            <a:r>
              <a:rPr lang="en-US" sz="900" b="1" dirty="0">
                <a:solidFill>
                  <a:srgbClr val="E7B94B"/>
                </a:solidFill>
              </a:rPr>
              <a:t>Program.cs — registration</a:t>
            </a:r>
            <a:endParaRPr lang="en-US" sz="900" dirty="0"/>
          </a:p>
        </p:txBody>
      </p:sp>
      <p:sp>
        <p:nvSpPr>
          <p:cNvPr id="10" name="Text 7"/>
          <p:cNvSpPr/>
          <p:nvPr/>
        </p:nvSpPr>
        <p:spPr>
          <a:xfrm>
            <a:off x="850392" y="2624328"/>
            <a:ext cx="4700016" cy="1453896"/>
          </a:xfrm>
          <a:prstGeom prst="rect">
            <a:avLst/>
          </a:prstGeom>
          <a:noFill/>
          <a:ln/>
        </p:spPr>
        <p:txBody>
          <a:bodyPr wrap="square" lIns="0" tIns="0" rIns="0" bIns="0" rtlCol="0" anchor="t">
            <a:normAutofit/>
          </a:bodyPr>
          <a:lstStyle/>
          <a:p>
            <a:pPr indent="0" marL="0">
              <a:buNone/>
            </a:pPr>
            <a:r>
              <a:rPr lang="en-US" sz="850" dirty="0">
                <a:solidFill>
                  <a:srgbClr val="E8F1FF"/>
                </a:solidFill>
                <a:latin typeface="Consolas" pitchFamily="34" charset="0"/>
                <a:ea typeface="Consolas" pitchFamily="34" charset="-122"/>
                <a:cs typeface="Consolas" pitchFamily="34" charset="-120"/>
              </a:rPr>
              <a:t>builder.Services.AddScoped&lt;PropertyData&gt;();</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builder.Services.AddScoped&lt;OwnerData&gt;();</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builder.Services.AddScoped&lt;CustomerData&gt;();</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builder.Services.AddScoped&lt;RentalData&gt;();</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builder.Services.AddScoped&lt;SaleData&gt;();</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builder.Services.AddScoped&lt;PaymentData&gt;();</a:t>
            </a:r>
            <a:endParaRPr lang="en-US" sz="850" dirty="0"/>
          </a:p>
        </p:txBody>
      </p:sp>
      <p:sp>
        <p:nvSpPr>
          <p:cNvPr id="11" name="Shape 8"/>
          <p:cNvSpPr/>
          <p:nvPr/>
        </p:nvSpPr>
        <p:spPr>
          <a:xfrm>
            <a:off x="6172200" y="1234440"/>
            <a:ext cx="5257800" cy="1920240"/>
          </a:xfrm>
          <a:prstGeom prst="roundRect">
            <a:avLst>
              <a:gd name="adj" fmla="val 2381"/>
            </a:avLst>
          </a:prstGeom>
          <a:solidFill>
            <a:srgbClr val="0B1720"/>
          </a:solidFill>
          <a:ln w="12700">
            <a:solidFill>
              <a:srgbClr val="0B1720"/>
            </a:solidFill>
            <a:prstDash val="solid"/>
          </a:ln>
          <a:effectLst>
            <a:outerShdw sx="100000" sy="100000" kx="0" ky="0" algn="bl" rotWithShape="0" blurRad="25400" dist="12700" dir="2700000">
              <a:srgbClr val="000000">
                <a:alpha val="18000"/>
              </a:srgbClr>
            </a:outerShdw>
          </a:effectLst>
        </p:spPr>
      </p:sp>
      <p:sp>
        <p:nvSpPr>
          <p:cNvPr id="12" name="Text 9"/>
          <p:cNvSpPr/>
          <p:nvPr/>
        </p:nvSpPr>
        <p:spPr>
          <a:xfrm>
            <a:off x="6336792" y="1344168"/>
            <a:ext cx="4928616" cy="182880"/>
          </a:xfrm>
          <a:prstGeom prst="rect">
            <a:avLst/>
          </a:prstGeom>
          <a:noFill/>
          <a:ln/>
        </p:spPr>
        <p:txBody>
          <a:bodyPr wrap="square" lIns="0" tIns="0" rIns="0" bIns="0" rtlCol="0" anchor="ctr"/>
          <a:lstStyle/>
          <a:p>
            <a:pPr indent="0" marL="0">
              <a:buNone/>
            </a:pPr>
            <a:r>
              <a:rPr lang="en-US" sz="900" b="1" dirty="0">
                <a:solidFill>
                  <a:srgbClr val="E7B94B"/>
                </a:solidFill>
              </a:rPr>
              <a:t>PropertiesController — injection</a:t>
            </a:r>
            <a:endParaRPr lang="en-US" sz="900" dirty="0"/>
          </a:p>
        </p:txBody>
      </p:sp>
      <p:sp>
        <p:nvSpPr>
          <p:cNvPr id="13" name="Text 10"/>
          <p:cNvSpPr/>
          <p:nvPr/>
        </p:nvSpPr>
        <p:spPr>
          <a:xfrm>
            <a:off x="6336792" y="1618488"/>
            <a:ext cx="4928616" cy="1408176"/>
          </a:xfrm>
          <a:prstGeom prst="rect">
            <a:avLst/>
          </a:prstGeom>
          <a:noFill/>
          <a:ln/>
        </p:spPr>
        <p:txBody>
          <a:bodyPr wrap="square" lIns="0" tIns="0" rIns="0" bIns="0" rtlCol="0" anchor="t">
            <a:normAutofit/>
          </a:bodyPr>
          <a:lstStyle/>
          <a:p>
            <a:pPr indent="0" marL="0">
              <a:buNone/>
            </a:pPr>
            <a:r>
              <a:rPr lang="en-US" sz="850" dirty="0">
                <a:solidFill>
                  <a:srgbClr val="E8F1FF"/>
                </a:solidFill>
                <a:latin typeface="Consolas" pitchFamily="34" charset="0"/>
                <a:ea typeface="Consolas" pitchFamily="34" charset="-122"/>
                <a:cs typeface="Consolas" pitchFamily="34" charset="-120"/>
              </a:rPr>
              <a:t>private readonly PropertyData _data;</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private readonly OwnerData _ownerData;</a:t>
            </a:r>
            <a:endParaRPr lang="en-US" sz="850" dirty="0"/>
          </a:p>
          <a:p>
            <a:pPr indent="0" marL="0">
              <a:buNone/>
            </a:pP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public PropertiesController(PropertyData data, OwnerData ownerData)</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_data = data;</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_ownerData = ownerData;</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a:t>
            </a:r>
            <a:endParaRPr lang="en-US" sz="850" dirty="0"/>
          </a:p>
        </p:txBody>
      </p:sp>
      <p:sp>
        <p:nvSpPr>
          <p:cNvPr id="14" name="Shape 11"/>
          <p:cNvSpPr/>
          <p:nvPr/>
        </p:nvSpPr>
        <p:spPr>
          <a:xfrm>
            <a:off x="6172200" y="3456432"/>
            <a:ext cx="5257800" cy="1207008"/>
          </a:xfrm>
          <a:prstGeom prst="roundRect">
            <a:avLst>
              <a:gd name="adj" fmla="val 6061"/>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15" name="Text 12"/>
          <p:cNvSpPr/>
          <p:nvPr/>
        </p:nvSpPr>
        <p:spPr>
          <a:xfrm>
            <a:off x="6400800" y="3657600"/>
            <a:ext cx="480060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Why AddScoped?</a:t>
            </a:r>
            <a:endParaRPr lang="en-US" sz="1500" dirty="0"/>
          </a:p>
        </p:txBody>
      </p:sp>
      <p:sp>
        <p:nvSpPr>
          <p:cNvPr id="16" name="Text 13"/>
          <p:cNvSpPr/>
          <p:nvPr/>
        </p:nvSpPr>
        <p:spPr>
          <a:xfrm>
            <a:off x="6400800" y="4041648"/>
            <a:ext cx="4800600" cy="420624"/>
          </a:xfrm>
          <a:prstGeom prst="rect">
            <a:avLst/>
          </a:prstGeom>
          <a:noFill/>
          <a:ln/>
        </p:spPr>
        <p:txBody>
          <a:bodyPr wrap="square" lIns="254" tIns="254" rIns="254" bIns="254" rtlCol="0" anchor="t">
            <a:normAutofit/>
          </a:bodyPr>
          <a:lstStyle/>
          <a:p>
            <a:pPr indent="0" marL="0">
              <a:buNone/>
            </a:pPr>
            <a:r>
              <a:rPr lang="en-US" sz="1250" dirty="0">
                <a:solidFill>
                  <a:srgbClr val="15304A"/>
                </a:solidFill>
              </a:rPr>
              <a:t>A scoped service is created once per HTTP request. That is suitable for request-based data access classes because each API call receives its own clean working instance.</a:t>
            </a:r>
            <a:endParaRPr lang="en-US" sz="1250" dirty="0"/>
          </a:p>
        </p:txBody>
      </p:sp>
      <p:sp>
        <p:nvSpPr>
          <p:cNvPr id="17" name="Shape 14"/>
          <p:cNvSpPr/>
          <p:nvPr/>
        </p:nvSpPr>
        <p:spPr>
          <a:xfrm>
            <a:off x="2880360" y="5248656"/>
            <a:ext cx="6355080" cy="292608"/>
          </a:xfrm>
          <a:prstGeom prst="roundRect">
            <a:avLst>
              <a:gd name="adj" fmla="val 25000"/>
            </a:avLst>
          </a:prstGeom>
          <a:solidFill>
            <a:srgbClr val="E7B94B"/>
          </a:solidFill>
          <a:ln w="12700">
            <a:solidFill>
              <a:srgbClr val="E7B94B"/>
            </a:solidFill>
            <a:prstDash val="solid"/>
          </a:ln>
          <a:effectLst>
            <a:outerShdw sx="100000" sy="100000" kx="0" ky="0" algn="bl" rotWithShape="0" blurRad="12700" dist="12700" dir="2700000">
              <a:srgbClr val="000000">
                <a:alpha val="6000"/>
              </a:srgbClr>
            </a:outerShdw>
          </a:effectLst>
        </p:spPr>
      </p:sp>
      <p:sp>
        <p:nvSpPr>
          <p:cNvPr id="18" name="Text 15"/>
          <p:cNvSpPr/>
          <p:nvPr/>
        </p:nvSpPr>
        <p:spPr>
          <a:xfrm>
            <a:off x="2953512" y="5317236"/>
            <a:ext cx="6208776" cy="128016"/>
          </a:xfrm>
          <a:prstGeom prst="rect">
            <a:avLst/>
          </a:prstGeom>
          <a:noFill/>
          <a:ln/>
        </p:spPr>
        <p:txBody>
          <a:bodyPr wrap="square" lIns="0" tIns="0" rIns="0" bIns="0" rtlCol="0" anchor="ctr"/>
          <a:lstStyle/>
          <a:p>
            <a:pPr algn="ctr" indent="0" marL="0">
              <a:buNone/>
            </a:pPr>
            <a:r>
              <a:rPr lang="en-US" sz="950" b="1" dirty="0">
                <a:solidFill>
                  <a:srgbClr val="10375F"/>
                </a:solidFill>
              </a:rPr>
              <a:t>DI separates object creation from business logic.</a:t>
            </a:r>
            <a:endParaRPr lang="en-US" sz="95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310896"/>
            <a:ext cx="2926080" cy="201168"/>
          </a:xfrm>
          <a:prstGeom prst="rect">
            <a:avLst/>
          </a:prstGeom>
          <a:noFill/>
          <a:ln/>
        </p:spPr>
        <p:txBody>
          <a:bodyPr wrap="square" lIns="0" tIns="0" rIns="0" bIns="0" rtlCol="0" anchor="ctr"/>
          <a:lstStyle/>
          <a:p>
            <a:pPr indent="0" marL="0">
              <a:buNone/>
            </a:pPr>
            <a:r>
              <a:rPr lang="en-US" sz="950" b="1" dirty="0">
                <a:solidFill>
                  <a:srgbClr val="B78314"/>
                </a:solidFill>
              </a:rPr>
              <a:t>Property.cs</a:t>
            </a:r>
            <a:endParaRPr lang="en-US" sz="950" dirty="0"/>
          </a:p>
        </p:txBody>
      </p:sp>
      <p:sp>
        <p:nvSpPr>
          <p:cNvPr id="3" name="Text 1"/>
          <p:cNvSpPr/>
          <p:nvPr/>
        </p:nvSpPr>
        <p:spPr>
          <a:xfrm>
            <a:off x="594360" y="566928"/>
            <a:ext cx="10424160" cy="502920"/>
          </a:xfrm>
          <a:prstGeom prst="rect">
            <a:avLst/>
          </a:prstGeom>
          <a:noFill/>
          <a:ln/>
        </p:spPr>
        <p:txBody>
          <a:bodyPr wrap="square" lIns="0" tIns="0" rIns="0" bIns="0" rtlCol="0" anchor="ctr">
            <a:normAutofit/>
          </a:bodyPr>
          <a:lstStyle/>
          <a:p>
            <a:pPr indent="0" marL="0">
              <a:buNone/>
            </a:pPr>
            <a:r>
              <a:rPr lang="en-US" sz="2550" b="1" dirty="0">
                <a:solidFill>
                  <a:srgbClr val="10375F"/>
                </a:solidFill>
              </a:rPr>
              <a:t>Backend code — Phase 1: Model class</a:t>
            </a:r>
            <a:endParaRPr lang="en-US" sz="2550" dirty="0"/>
          </a:p>
        </p:txBody>
      </p:sp>
      <p:pic>
        <p:nvPicPr>
          <p:cNvPr id="4" name="Image 0" descr="/mnt/data/rentalpro_doc_assets/logo-mark.png">    </p:cNvPr>
          <p:cNvPicPr>
            <a:picLocks noChangeAspect="1"/>
          </p:cNvPicPr>
          <p:nvPr/>
        </p:nvPicPr>
        <p:blipFill>
          <a:blip r:embed="rId1"/>
          <a:stretch>
            <a:fillRect/>
          </a:stretch>
        </p:blipFill>
        <p:spPr>
          <a:xfrm>
            <a:off x="11109960" y="292608"/>
            <a:ext cx="438912" cy="438912"/>
          </a:xfrm>
          <a:prstGeom prst="rect">
            <a:avLst/>
          </a:prstGeom>
        </p:spPr>
      </p:pic>
      <p:sp>
        <p:nvSpPr>
          <p:cNvPr id="5" name="Shape 2"/>
          <p:cNvSpPr/>
          <p:nvPr/>
        </p:nvSpPr>
        <p:spPr>
          <a:xfrm>
            <a:off x="749808" y="1207008"/>
            <a:ext cx="4800600" cy="4389120"/>
          </a:xfrm>
          <a:prstGeom prst="roundRect">
            <a:avLst>
              <a:gd name="adj" fmla="val 1042"/>
            </a:avLst>
          </a:prstGeom>
          <a:solidFill>
            <a:srgbClr val="0B1720"/>
          </a:solidFill>
          <a:ln w="12700">
            <a:solidFill>
              <a:srgbClr val="0B1720"/>
            </a:solidFill>
            <a:prstDash val="solid"/>
          </a:ln>
          <a:effectLst>
            <a:outerShdw sx="100000" sy="100000" kx="0" ky="0" algn="bl" rotWithShape="0" blurRad="25400" dist="12700" dir="2700000">
              <a:srgbClr val="000000">
                <a:alpha val="18000"/>
              </a:srgbClr>
            </a:outerShdw>
          </a:effectLst>
        </p:spPr>
      </p:sp>
      <p:sp>
        <p:nvSpPr>
          <p:cNvPr id="6" name="Text 3"/>
          <p:cNvSpPr/>
          <p:nvPr/>
        </p:nvSpPr>
        <p:spPr>
          <a:xfrm>
            <a:off x="914400" y="1316736"/>
            <a:ext cx="4471416" cy="182880"/>
          </a:xfrm>
          <a:prstGeom prst="rect">
            <a:avLst/>
          </a:prstGeom>
          <a:noFill/>
          <a:ln/>
        </p:spPr>
        <p:txBody>
          <a:bodyPr wrap="square" lIns="0" tIns="0" rIns="0" bIns="0" rtlCol="0" anchor="ctr"/>
          <a:lstStyle/>
          <a:p>
            <a:pPr indent="0" marL="0">
              <a:buNone/>
            </a:pPr>
            <a:r>
              <a:rPr lang="en-US" sz="900" b="1" dirty="0">
                <a:solidFill>
                  <a:srgbClr val="E7B94B"/>
                </a:solidFill>
              </a:rPr>
              <a:t>Models/Property.cs</a:t>
            </a:r>
            <a:endParaRPr lang="en-US" sz="900" dirty="0"/>
          </a:p>
        </p:txBody>
      </p:sp>
      <p:sp>
        <p:nvSpPr>
          <p:cNvPr id="7" name="Text 4"/>
          <p:cNvSpPr/>
          <p:nvPr/>
        </p:nvSpPr>
        <p:spPr>
          <a:xfrm>
            <a:off x="914400" y="1591056"/>
            <a:ext cx="4471416" cy="3877056"/>
          </a:xfrm>
          <a:prstGeom prst="rect">
            <a:avLst/>
          </a:prstGeom>
          <a:noFill/>
          <a:ln/>
        </p:spPr>
        <p:txBody>
          <a:bodyPr wrap="square" lIns="0" tIns="0" rIns="0" bIns="0" rtlCol="0" anchor="t">
            <a:normAutofit/>
          </a:bodyPr>
          <a:lstStyle/>
          <a:p>
            <a:pPr indent="0" marL="0">
              <a:buNone/>
            </a:pPr>
            <a:r>
              <a:rPr lang="en-US" sz="850" dirty="0">
                <a:solidFill>
                  <a:srgbClr val="E8F1FF"/>
                </a:solidFill>
                <a:latin typeface="Consolas" pitchFamily="34" charset="0"/>
                <a:ea typeface="Consolas" pitchFamily="34" charset="-122"/>
                <a:cs typeface="Consolas" pitchFamily="34" charset="-120"/>
              </a:rPr>
              <a:t>public class Property</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public int PropertyID { get; set; }</a:t>
            </a:r>
            <a:endParaRPr lang="en-US" sz="850" dirty="0"/>
          </a:p>
          <a:p>
            <a:pPr indent="0" marL="0">
              <a:buNone/>
            </a:pP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[Required, StringLength(100)]</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public string PropertyName { get; set; } = string.Empty;</a:t>
            </a:r>
            <a:endParaRPr lang="en-US" sz="850" dirty="0"/>
          </a:p>
          <a:p>
            <a:pPr indent="0" marL="0">
              <a:buNone/>
            </a:pP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[Required, StringLength(50)]</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public string PropertyType { get; set; } = string.Empty;</a:t>
            </a:r>
            <a:endParaRPr lang="en-US" sz="850" dirty="0"/>
          </a:p>
          <a:p>
            <a:pPr indent="0" marL="0">
              <a:buNone/>
            </a:pP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[Range(0.01, double.MaxValue)]</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public decimal Price { get; set; }</a:t>
            </a:r>
            <a:endParaRPr lang="en-US" sz="850" dirty="0"/>
          </a:p>
          <a:p>
            <a:pPr indent="0" marL="0">
              <a:buNone/>
            </a:pP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[Range(1, int.MaxValue)]</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public int OwnerID { get; set; }</a:t>
            </a:r>
            <a:endParaRPr lang="en-US" sz="850" dirty="0"/>
          </a:p>
          <a:p>
            <a:pPr indent="0" marL="0">
              <a:buNone/>
            </a:pP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public string? OwnerName { get; set; }</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a:t>
            </a:r>
            <a:endParaRPr lang="en-US" sz="850" dirty="0"/>
          </a:p>
        </p:txBody>
      </p:sp>
      <p:sp>
        <p:nvSpPr>
          <p:cNvPr id="8" name="Shape 5"/>
          <p:cNvSpPr/>
          <p:nvPr/>
        </p:nvSpPr>
        <p:spPr>
          <a:xfrm>
            <a:off x="5897880" y="1234440"/>
            <a:ext cx="5257800" cy="1024128"/>
          </a:xfrm>
          <a:prstGeom prst="roundRect">
            <a:avLst>
              <a:gd name="adj" fmla="val 7143"/>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9" name="Text 6"/>
          <p:cNvSpPr/>
          <p:nvPr/>
        </p:nvSpPr>
        <p:spPr>
          <a:xfrm>
            <a:off x="6126480" y="1435608"/>
            <a:ext cx="480060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Purpose</a:t>
            </a:r>
            <a:endParaRPr lang="en-US" sz="1500" dirty="0"/>
          </a:p>
        </p:txBody>
      </p:sp>
      <p:sp>
        <p:nvSpPr>
          <p:cNvPr id="10" name="Text 7"/>
          <p:cNvSpPr/>
          <p:nvPr/>
        </p:nvSpPr>
        <p:spPr>
          <a:xfrm>
            <a:off x="6126480" y="1819656"/>
            <a:ext cx="4800600" cy="237744"/>
          </a:xfrm>
          <a:prstGeom prst="rect">
            <a:avLst/>
          </a:prstGeom>
          <a:noFill/>
          <a:ln/>
        </p:spPr>
        <p:txBody>
          <a:bodyPr wrap="square" lIns="254" tIns="254" rIns="254" bIns="254" rtlCol="0" anchor="t">
            <a:normAutofit/>
          </a:bodyPr>
          <a:lstStyle/>
          <a:p>
            <a:pPr indent="0" marL="0">
              <a:buNone/>
            </a:pPr>
            <a:r>
              <a:rPr lang="en-US" sz="1200" dirty="0">
                <a:solidFill>
                  <a:srgbClr val="15304A"/>
                </a:solidFill>
              </a:rPr>
              <a:t>The model defines the shape of property data that moves between SQL Server, controllers and React.</a:t>
            </a:r>
            <a:endParaRPr lang="en-US" sz="1200" dirty="0"/>
          </a:p>
        </p:txBody>
      </p:sp>
      <p:sp>
        <p:nvSpPr>
          <p:cNvPr id="11" name="Shape 8"/>
          <p:cNvSpPr/>
          <p:nvPr/>
        </p:nvSpPr>
        <p:spPr>
          <a:xfrm>
            <a:off x="5897880" y="2514600"/>
            <a:ext cx="5257800" cy="1024128"/>
          </a:xfrm>
          <a:prstGeom prst="roundRect">
            <a:avLst>
              <a:gd name="adj" fmla="val 7143"/>
            </a:avLst>
          </a:prstGeom>
          <a:solidFill>
            <a:srgbClr val="EAF2F9"/>
          </a:solidFill>
          <a:ln w="12700">
            <a:solidFill>
              <a:srgbClr val="174A7E"/>
            </a:solidFill>
            <a:prstDash val="solid"/>
          </a:ln>
          <a:effectLst>
            <a:outerShdw sx="100000" sy="100000" kx="0" ky="0" algn="bl" rotWithShape="0" blurRad="25400" dist="12700" dir="2700000">
              <a:srgbClr val="000000">
                <a:alpha val="12000"/>
              </a:srgbClr>
            </a:outerShdw>
          </a:effectLst>
        </p:spPr>
      </p:sp>
      <p:sp>
        <p:nvSpPr>
          <p:cNvPr id="12" name="Text 9"/>
          <p:cNvSpPr/>
          <p:nvPr/>
        </p:nvSpPr>
        <p:spPr>
          <a:xfrm>
            <a:off x="6126480" y="2715768"/>
            <a:ext cx="480060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Validation attributes</a:t>
            </a:r>
            <a:endParaRPr lang="en-US" sz="1500" dirty="0"/>
          </a:p>
        </p:txBody>
      </p:sp>
      <p:sp>
        <p:nvSpPr>
          <p:cNvPr id="13" name="Text 10"/>
          <p:cNvSpPr/>
          <p:nvPr/>
        </p:nvSpPr>
        <p:spPr>
          <a:xfrm>
            <a:off x="6126480" y="3099816"/>
            <a:ext cx="4800600" cy="237744"/>
          </a:xfrm>
          <a:prstGeom prst="rect">
            <a:avLst/>
          </a:prstGeom>
          <a:noFill/>
          <a:ln/>
        </p:spPr>
        <p:txBody>
          <a:bodyPr wrap="square" lIns="254" tIns="254" rIns="254" bIns="254" rtlCol="0" anchor="t">
            <a:normAutofit/>
          </a:bodyPr>
          <a:lstStyle/>
          <a:p>
            <a:pPr indent="0" marL="0">
              <a:buNone/>
            </a:pPr>
            <a:r>
              <a:rPr lang="en-US" sz="1200" dirty="0">
                <a:solidFill>
                  <a:srgbClr val="15304A"/>
                </a:solidFill>
              </a:rPr>
              <a:t>[Required], [StringLength] and [Range] help reject invalid requests before bad data reaches the database.</a:t>
            </a:r>
            <a:endParaRPr lang="en-US" sz="1200" dirty="0"/>
          </a:p>
        </p:txBody>
      </p:sp>
      <p:sp>
        <p:nvSpPr>
          <p:cNvPr id="14" name="Shape 11"/>
          <p:cNvSpPr/>
          <p:nvPr/>
        </p:nvSpPr>
        <p:spPr>
          <a:xfrm>
            <a:off x="5897880" y="3794760"/>
            <a:ext cx="5257800" cy="1024128"/>
          </a:xfrm>
          <a:prstGeom prst="roundRect">
            <a:avLst>
              <a:gd name="adj" fmla="val 7143"/>
            </a:avLst>
          </a:prstGeom>
          <a:solidFill>
            <a:srgbClr val="FFF7DF"/>
          </a:solidFill>
          <a:ln w="12700">
            <a:solidFill>
              <a:srgbClr val="E7B94B"/>
            </a:solidFill>
            <a:prstDash val="solid"/>
          </a:ln>
          <a:effectLst>
            <a:outerShdw sx="100000" sy="100000" kx="0" ky="0" algn="bl" rotWithShape="0" blurRad="25400" dist="12700" dir="2700000">
              <a:srgbClr val="000000">
                <a:alpha val="12000"/>
              </a:srgbClr>
            </a:outerShdw>
          </a:effectLst>
        </p:spPr>
      </p:sp>
      <p:sp>
        <p:nvSpPr>
          <p:cNvPr id="15" name="Text 12"/>
          <p:cNvSpPr/>
          <p:nvPr/>
        </p:nvSpPr>
        <p:spPr>
          <a:xfrm>
            <a:off x="6126480" y="3995928"/>
            <a:ext cx="480060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OwnerName</a:t>
            </a:r>
            <a:endParaRPr lang="en-US" sz="1500" dirty="0"/>
          </a:p>
        </p:txBody>
      </p:sp>
      <p:sp>
        <p:nvSpPr>
          <p:cNvPr id="16" name="Text 13"/>
          <p:cNvSpPr/>
          <p:nvPr/>
        </p:nvSpPr>
        <p:spPr>
          <a:xfrm>
            <a:off x="6126480" y="4379976"/>
            <a:ext cx="4800600" cy="237744"/>
          </a:xfrm>
          <a:prstGeom prst="rect">
            <a:avLst/>
          </a:prstGeom>
          <a:noFill/>
          <a:ln/>
        </p:spPr>
        <p:txBody>
          <a:bodyPr wrap="square" lIns="254" tIns="254" rIns="254" bIns="254" rtlCol="0" anchor="t">
            <a:normAutofit/>
          </a:bodyPr>
          <a:lstStyle/>
          <a:p>
            <a:pPr indent="0" marL="0">
              <a:buNone/>
            </a:pPr>
            <a:r>
              <a:rPr lang="en-US" sz="1200" dirty="0">
                <a:solidFill>
                  <a:srgbClr val="15304A"/>
                </a:solidFill>
              </a:rPr>
              <a:t>OwnerName is returned by JOIN queries for display in React. It is not a physical column in Properties.</a:t>
            </a:r>
            <a:endParaRPr lang="en-US" sz="120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310896"/>
            <a:ext cx="2926080" cy="201168"/>
          </a:xfrm>
          <a:prstGeom prst="rect">
            <a:avLst/>
          </a:prstGeom>
          <a:noFill/>
          <a:ln/>
        </p:spPr>
        <p:txBody>
          <a:bodyPr wrap="square" lIns="0" tIns="0" rIns="0" bIns="0" rtlCol="0" anchor="ctr"/>
          <a:lstStyle/>
          <a:p>
            <a:pPr indent="0" marL="0">
              <a:buNone/>
            </a:pPr>
            <a:r>
              <a:rPr lang="en-US" sz="950" b="1" dirty="0">
                <a:solidFill>
                  <a:srgbClr val="B78314"/>
                </a:solidFill>
              </a:rPr>
              <a:t>PropertyData.cs</a:t>
            </a:r>
            <a:endParaRPr lang="en-US" sz="950" dirty="0"/>
          </a:p>
        </p:txBody>
      </p:sp>
      <p:sp>
        <p:nvSpPr>
          <p:cNvPr id="3" name="Text 1"/>
          <p:cNvSpPr/>
          <p:nvPr/>
        </p:nvSpPr>
        <p:spPr>
          <a:xfrm>
            <a:off x="594360" y="566928"/>
            <a:ext cx="10424160" cy="502920"/>
          </a:xfrm>
          <a:prstGeom prst="rect">
            <a:avLst/>
          </a:prstGeom>
          <a:noFill/>
          <a:ln/>
        </p:spPr>
        <p:txBody>
          <a:bodyPr wrap="square" lIns="0" tIns="0" rIns="0" bIns="0" rtlCol="0" anchor="ctr">
            <a:normAutofit/>
          </a:bodyPr>
          <a:lstStyle/>
          <a:p>
            <a:pPr indent="0" marL="0">
              <a:buNone/>
            </a:pPr>
            <a:r>
              <a:rPr lang="en-US" sz="2550" b="1" dirty="0">
                <a:solidFill>
                  <a:srgbClr val="10375F"/>
                </a:solidFill>
              </a:rPr>
              <a:t>Backend code — Phase 2: Data class</a:t>
            </a:r>
            <a:endParaRPr lang="en-US" sz="2550" dirty="0"/>
          </a:p>
        </p:txBody>
      </p:sp>
      <p:pic>
        <p:nvPicPr>
          <p:cNvPr id="4" name="Image 0" descr="/mnt/data/rentalpro_doc_assets/logo-mark.png">    </p:cNvPr>
          <p:cNvPicPr>
            <a:picLocks noChangeAspect="1"/>
          </p:cNvPicPr>
          <p:nvPr/>
        </p:nvPicPr>
        <p:blipFill>
          <a:blip r:embed="rId1"/>
          <a:stretch>
            <a:fillRect/>
          </a:stretch>
        </p:blipFill>
        <p:spPr>
          <a:xfrm>
            <a:off x="11109960" y="292608"/>
            <a:ext cx="438912" cy="438912"/>
          </a:xfrm>
          <a:prstGeom prst="rect">
            <a:avLst/>
          </a:prstGeom>
        </p:spPr>
      </p:pic>
      <p:sp>
        <p:nvSpPr>
          <p:cNvPr id="5" name="Shape 2"/>
          <p:cNvSpPr/>
          <p:nvPr/>
        </p:nvSpPr>
        <p:spPr>
          <a:xfrm>
            <a:off x="658368" y="1143000"/>
            <a:ext cx="5669280" cy="4663440"/>
          </a:xfrm>
          <a:prstGeom prst="roundRect">
            <a:avLst>
              <a:gd name="adj" fmla="val 980"/>
            </a:avLst>
          </a:prstGeom>
          <a:solidFill>
            <a:srgbClr val="0B1720"/>
          </a:solidFill>
          <a:ln w="12700">
            <a:solidFill>
              <a:srgbClr val="0B1720"/>
            </a:solidFill>
            <a:prstDash val="solid"/>
          </a:ln>
          <a:effectLst>
            <a:outerShdw sx="100000" sy="100000" kx="0" ky="0" algn="bl" rotWithShape="0" blurRad="25400" dist="12700" dir="2700000">
              <a:srgbClr val="000000">
                <a:alpha val="18000"/>
              </a:srgbClr>
            </a:outerShdw>
          </a:effectLst>
        </p:spPr>
      </p:sp>
      <p:sp>
        <p:nvSpPr>
          <p:cNvPr id="6" name="Text 3"/>
          <p:cNvSpPr/>
          <p:nvPr/>
        </p:nvSpPr>
        <p:spPr>
          <a:xfrm>
            <a:off x="822960" y="1252728"/>
            <a:ext cx="5340096" cy="182880"/>
          </a:xfrm>
          <a:prstGeom prst="rect">
            <a:avLst/>
          </a:prstGeom>
          <a:noFill/>
          <a:ln/>
        </p:spPr>
        <p:txBody>
          <a:bodyPr wrap="square" lIns="0" tIns="0" rIns="0" bIns="0" rtlCol="0" anchor="ctr"/>
          <a:lstStyle/>
          <a:p>
            <a:pPr indent="0" marL="0">
              <a:buNone/>
            </a:pPr>
            <a:r>
              <a:rPr lang="en-US" sz="900" b="1" dirty="0">
                <a:solidFill>
                  <a:srgbClr val="E7B94B"/>
                </a:solidFill>
              </a:rPr>
              <a:t>Data/PropertyData.cs</a:t>
            </a:r>
            <a:endParaRPr lang="en-US" sz="900" dirty="0"/>
          </a:p>
        </p:txBody>
      </p:sp>
      <p:sp>
        <p:nvSpPr>
          <p:cNvPr id="7" name="Text 4"/>
          <p:cNvSpPr/>
          <p:nvPr/>
        </p:nvSpPr>
        <p:spPr>
          <a:xfrm>
            <a:off x="822960" y="1527048"/>
            <a:ext cx="5340096" cy="4151376"/>
          </a:xfrm>
          <a:prstGeom prst="rect">
            <a:avLst/>
          </a:prstGeom>
          <a:noFill/>
          <a:ln/>
        </p:spPr>
        <p:txBody>
          <a:bodyPr wrap="square" lIns="0" tIns="0" rIns="0" bIns="0" rtlCol="0" anchor="t">
            <a:normAutofit/>
          </a:bodyPr>
          <a:lstStyle/>
          <a:p>
            <a:pPr indent="0" marL="0">
              <a:buNone/>
            </a:pPr>
            <a:r>
              <a:rPr lang="en-US" sz="850" dirty="0">
                <a:solidFill>
                  <a:srgbClr val="E8F1FF"/>
                </a:solidFill>
                <a:latin typeface="Consolas" pitchFamily="34" charset="0"/>
                <a:ea typeface="Consolas" pitchFamily="34" charset="-122"/>
                <a:cs typeface="Consolas" pitchFamily="34" charset="-120"/>
              </a:rPr>
              <a:t>public PropertyData(IConfiguration configuration)</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_connectionString = configuration</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.GetConnectionString("DefaultConnection")</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 throw new InvalidOperationException(...);</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private const string SelectSql = @"SELECT p.PropertyID, p.PropertyName,</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p.PropertyType, p.Location, p.Price, p.Status,</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p.OwnerID, p.Description, o.FullName AS OwnerName</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FROM Properties p INNER JOIN Owners o ON p.OwnerID=o.OwnerID";</a:t>
            </a:r>
            <a:endParaRPr lang="en-US" sz="850" dirty="0"/>
          </a:p>
          <a:p>
            <a:pPr indent="0" marL="0">
              <a:buNone/>
            </a:pP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public List&lt;Property&gt; GetAllProperties()</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using SqlConnection connection = new(_connectionString);</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using SqlCommand command = new(SelectSql + " ORDER BY p.PropertyID DESC", connection);</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connection.Open();</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using SqlDataReader reader = command.ExecuteReader();</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 Map rows to Property objects</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a:t>
            </a:r>
            <a:endParaRPr lang="en-US" sz="850" dirty="0"/>
          </a:p>
        </p:txBody>
      </p:sp>
      <p:sp>
        <p:nvSpPr>
          <p:cNvPr id="8" name="Shape 5"/>
          <p:cNvSpPr/>
          <p:nvPr/>
        </p:nvSpPr>
        <p:spPr>
          <a:xfrm>
            <a:off x="6720840" y="1261872"/>
            <a:ext cx="4251960" cy="914400"/>
          </a:xfrm>
          <a:prstGeom prst="roundRect">
            <a:avLst>
              <a:gd name="adj" fmla="val 8000"/>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9" name="Text 6"/>
          <p:cNvSpPr/>
          <p:nvPr/>
        </p:nvSpPr>
        <p:spPr>
          <a:xfrm>
            <a:off x="6949440" y="1463040"/>
            <a:ext cx="37947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Responsibility</a:t>
            </a:r>
            <a:endParaRPr lang="en-US" sz="1500" dirty="0"/>
          </a:p>
        </p:txBody>
      </p:sp>
      <p:sp>
        <p:nvSpPr>
          <p:cNvPr id="10" name="Text 7"/>
          <p:cNvSpPr/>
          <p:nvPr/>
        </p:nvSpPr>
        <p:spPr>
          <a:xfrm>
            <a:off x="6949440" y="1847088"/>
            <a:ext cx="3794760" cy="128016"/>
          </a:xfrm>
          <a:prstGeom prst="rect">
            <a:avLst/>
          </a:prstGeom>
          <a:noFill/>
          <a:ln/>
        </p:spPr>
        <p:txBody>
          <a:bodyPr wrap="square" lIns="254" tIns="254" rIns="254" bIns="254" rtlCol="0" anchor="t">
            <a:normAutofit/>
          </a:bodyPr>
          <a:lstStyle/>
          <a:p>
            <a:pPr indent="0" marL="0">
              <a:buNone/>
            </a:pPr>
            <a:r>
              <a:rPr lang="en-US" sz="1150" dirty="0">
                <a:solidFill>
                  <a:srgbClr val="15304A"/>
                </a:solidFill>
              </a:rPr>
              <a:t>Talks to SQL Server, runs queries and converts database rows into C# objects.</a:t>
            </a:r>
            <a:endParaRPr lang="en-US" sz="1150" dirty="0"/>
          </a:p>
        </p:txBody>
      </p:sp>
      <p:sp>
        <p:nvSpPr>
          <p:cNvPr id="11" name="Shape 8"/>
          <p:cNvSpPr/>
          <p:nvPr/>
        </p:nvSpPr>
        <p:spPr>
          <a:xfrm>
            <a:off x="6720840" y="2423160"/>
            <a:ext cx="4251960" cy="914400"/>
          </a:xfrm>
          <a:prstGeom prst="roundRect">
            <a:avLst>
              <a:gd name="adj" fmla="val 8000"/>
            </a:avLst>
          </a:prstGeom>
          <a:solidFill>
            <a:srgbClr val="EAF2F9"/>
          </a:solidFill>
          <a:ln w="12700">
            <a:solidFill>
              <a:srgbClr val="174A7E"/>
            </a:solidFill>
            <a:prstDash val="solid"/>
          </a:ln>
          <a:effectLst>
            <a:outerShdw sx="100000" sy="100000" kx="0" ky="0" algn="bl" rotWithShape="0" blurRad="25400" dist="12700" dir="2700000">
              <a:srgbClr val="000000">
                <a:alpha val="12000"/>
              </a:srgbClr>
            </a:outerShdw>
          </a:effectLst>
        </p:spPr>
      </p:sp>
      <p:sp>
        <p:nvSpPr>
          <p:cNvPr id="12" name="Text 9"/>
          <p:cNvSpPr/>
          <p:nvPr/>
        </p:nvSpPr>
        <p:spPr>
          <a:xfrm>
            <a:off x="6949440" y="2624328"/>
            <a:ext cx="37947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Security habit</a:t>
            </a:r>
            <a:endParaRPr lang="en-US" sz="1500" dirty="0"/>
          </a:p>
        </p:txBody>
      </p:sp>
      <p:sp>
        <p:nvSpPr>
          <p:cNvPr id="13" name="Text 10"/>
          <p:cNvSpPr/>
          <p:nvPr/>
        </p:nvSpPr>
        <p:spPr>
          <a:xfrm>
            <a:off x="6949440" y="3008376"/>
            <a:ext cx="3794760" cy="128016"/>
          </a:xfrm>
          <a:prstGeom prst="rect">
            <a:avLst/>
          </a:prstGeom>
          <a:noFill/>
          <a:ln/>
        </p:spPr>
        <p:txBody>
          <a:bodyPr wrap="square" lIns="254" tIns="254" rIns="254" bIns="254" rtlCol="0" anchor="t">
            <a:normAutofit/>
          </a:bodyPr>
          <a:lstStyle/>
          <a:p>
            <a:pPr indent="0" marL="0">
              <a:buNone/>
            </a:pPr>
            <a:r>
              <a:rPr lang="en-US" sz="1150" dirty="0">
                <a:solidFill>
                  <a:srgbClr val="15304A"/>
                </a:solidFill>
              </a:rPr>
              <a:t>Uses parameterized SQL commands to reduce SQL injection risk.</a:t>
            </a:r>
            <a:endParaRPr lang="en-US" sz="1150" dirty="0"/>
          </a:p>
        </p:txBody>
      </p:sp>
      <p:sp>
        <p:nvSpPr>
          <p:cNvPr id="14" name="Shape 11"/>
          <p:cNvSpPr/>
          <p:nvPr/>
        </p:nvSpPr>
        <p:spPr>
          <a:xfrm>
            <a:off x="6720840" y="3584448"/>
            <a:ext cx="4251960" cy="914400"/>
          </a:xfrm>
          <a:prstGeom prst="roundRect">
            <a:avLst>
              <a:gd name="adj" fmla="val 8000"/>
            </a:avLst>
          </a:prstGeom>
          <a:solidFill>
            <a:srgbClr val="FFF7DF"/>
          </a:solidFill>
          <a:ln w="12700">
            <a:solidFill>
              <a:srgbClr val="E7B94B"/>
            </a:solidFill>
            <a:prstDash val="solid"/>
          </a:ln>
          <a:effectLst>
            <a:outerShdw sx="100000" sy="100000" kx="0" ky="0" algn="bl" rotWithShape="0" blurRad="25400" dist="12700" dir="2700000">
              <a:srgbClr val="000000">
                <a:alpha val="12000"/>
              </a:srgbClr>
            </a:outerShdw>
          </a:effectLst>
        </p:spPr>
      </p:sp>
      <p:sp>
        <p:nvSpPr>
          <p:cNvPr id="15" name="Text 12"/>
          <p:cNvSpPr/>
          <p:nvPr/>
        </p:nvSpPr>
        <p:spPr>
          <a:xfrm>
            <a:off x="6949440" y="3785616"/>
            <a:ext cx="37947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Business logic</a:t>
            </a:r>
            <a:endParaRPr lang="en-US" sz="1500" dirty="0"/>
          </a:p>
        </p:txBody>
      </p:sp>
      <p:sp>
        <p:nvSpPr>
          <p:cNvPr id="16" name="Text 13"/>
          <p:cNvSpPr/>
          <p:nvPr/>
        </p:nvSpPr>
        <p:spPr>
          <a:xfrm>
            <a:off x="6949440" y="4169664"/>
            <a:ext cx="3794760" cy="128016"/>
          </a:xfrm>
          <a:prstGeom prst="rect">
            <a:avLst/>
          </a:prstGeom>
          <a:noFill/>
          <a:ln/>
        </p:spPr>
        <p:txBody>
          <a:bodyPr wrap="square" lIns="254" tIns="254" rIns="254" bIns="254" rtlCol="0" anchor="t">
            <a:normAutofit/>
          </a:bodyPr>
          <a:lstStyle/>
          <a:p>
            <a:pPr indent="0" marL="0">
              <a:buNone/>
            </a:pPr>
            <a:r>
              <a:rPr lang="en-US" sz="1150" dirty="0">
                <a:solidFill>
                  <a:srgbClr val="15304A"/>
                </a:solidFill>
              </a:rPr>
              <a:t>Includes helper methods such as NameExists, UpdateStatus and DeleteProperty.</a:t>
            </a:r>
            <a:endParaRPr lang="en-US" sz="1150" dirty="0"/>
          </a:p>
        </p:txBody>
      </p:sp>
      <p:sp>
        <p:nvSpPr>
          <p:cNvPr id="17" name="Shape 14"/>
          <p:cNvSpPr/>
          <p:nvPr/>
        </p:nvSpPr>
        <p:spPr>
          <a:xfrm>
            <a:off x="6720840" y="4745736"/>
            <a:ext cx="4251960" cy="914400"/>
          </a:xfrm>
          <a:prstGeom prst="roundRect">
            <a:avLst>
              <a:gd name="adj" fmla="val 8000"/>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18" name="Text 15"/>
          <p:cNvSpPr/>
          <p:nvPr/>
        </p:nvSpPr>
        <p:spPr>
          <a:xfrm>
            <a:off x="6949440" y="4946904"/>
            <a:ext cx="379476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Mapping</a:t>
            </a:r>
            <a:endParaRPr lang="en-US" sz="1500" dirty="0"/>
          </a:p>
        </p:txBody>
      </p:sp>
      <p:sp>
        <p:nvSpPr>
          <p:cNvPr id="19" name="Text 16"/>
          <p:cNvSpPr/>
          <p:nvPr/>
        </p:nvSpPr>
        <p:spPr>
          <a:xfrm>
            <a:off x="6949440" y="5330952"/>
            <a:ext cx="3794760" cy="128016"/>
          </a:xfrm>
          <a:prstGeom prst="rect">
            <a:avLst/>
          </a:prstGeom>
          <a:noFill/>
          <a:ln/>
        </p:spPr>
        <p:txBody>
          <a:bodyPr wrap="square" lIns="254" tIns="254" rIns="254" bIns="254" rtlCol="0" anchor="t">
            <a:normAutofit/>
          </a:bodyPr>
          <a:lstStyle/>
          <a:p>
            <a:pPr indent="0" marL="0">
              <a:buNone/>
            </a:pPr>
            <a:r>
              <a:rPr lang="en-US" sz="1150" dirty="0">
                <a:solidFill>
                  <a:srgbClr val="15304A"/>
                </a:solidFill>
              </a:rPr>
              <a:t>MapProperty converts SqlDataReader fields into a clean Property model.</a:t>
            </a:r>
            <a:endParaRPr lang="en-US" sz="115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310896"/>
            <a:ext cx="2926080" cy="201168"/>
          </a:xfrm>
          <a:prstGeom prst="rect">
            <a:avLst/>
          </a:prstGeom>
          <a:noFill/>
          <a:ln/>
        </p:spPr>
        <p:txBody>
          <a:bodyPr wrap="square" lIns="0" tIns="0" rIns="0" bIns="0" rtlCol="0" anchor="ctr"/>
          <a:lstStyle/>
          <a:p>
            <a:pPr indent="0" marL="0">
              <a:buNone/>
            </a:pPr>
            <a:r>
              <a:rPr lang="en-US" sz="950" b="1" dirty="0">
                <a:solidFill>
                  <a:srgbClr val="B78314"/>
                </a:solidFill>
              </a:rPr>
              <a:t>PropertiesController.cs</a:t>
            </a:r>
            <a:endParaRPr lang="en-US" sz="950" dirty="0"/>
          </a:p>
        </p:txBody>
      </p:sp>
      <p:sp>
        <p:nvSpPr>
          <p:cNvPr id="3" name="Text 1"/>
          <p:cNvSpPr/>
          <p:nvPr/>
        </p:nvSpPr>
        <p:spPr>
          <a:xfrm>
            <a:off x="594360" y="566928"/>
            <a:ext cx="10424160" cy="502920"/>
          </a:xfrm>
          <a:prstGeom prst="rect">
            <a:avLst/>
          </a:prstGeom>
          <a:noFill/>
          <a:ln/>
        </p:spPr>
        <p:txBody>
          <a:bodyPr wrap="square" lIns="0" tIns="0" rIns="0" bIns="0" rtlCol="0" anchor="ctr">
            <a:normAutofit/>
          </a:bodyPr>
          <a:lstStyle/>
          <a:p>
            <a:pPr indent="0" marL="0">
              <a:buNone/>
            </a:pPr>
            <a:r>
              <a:rPr lang="en-US" sz="2550" b="1" dirty="0">
                <a:solidFill>
                  <a:srgbClr val="10375F"/>
                </a:solidFill>
              </a:rPr>
              <a:t>Backend code — Phase 3: Controller class</a:t>
            </a:r>
            <a:endParaRPr lang="en-US" sz="2550" dirty="0"/>
          </a:p>
        </p:txBody>
      </p:sp>
      <p:pic>
        <p:nvPicPr>
          <p:cNvPr id="4" name="Image 0" descr="/mnt/data/rentalpro_doc_assets/logo-mark.png">    </p:cNvPr>
          <p:cNvPicPr>
            <a:picLocks noChangeAspect="1"/>
          </p:cNvPicPr>
          <p:nvPr/>
        </p:nvPicPr>
        <p:blipFill>
          <a:blip r:embed="rId1"/>
          <a:stretch>
            <a:fillRect/>
          </a:stretch>
        </p:blipFill>
        <p:spPr>
          <a:xfrm>
            <a:off x="11109960" y="292608"/>
            <a:ext cx="438912" cy="438912"/>
          </a:xfrm>
          <a:prstGeom prst="rect">
            <a:avLst/>
          </a:prstGeom>
        </p:spPr>
      </p:pic>
      <p:sp>
        <p:nvSpPr>
          <p:cNvPr id="5" name="Shape 2"/>
          <p:cNvSpPr/>
          <p:nvPr/>
        </p:nvSpPr>
        <p:spPr>
          <a:xfrm>
            <a:off x="640080" y="1143000"/>
            <a:ext cx="5806440" cy="4754880"/>
          </a:xfrm>
          <a:prstGeom prst="roundRect">
            <a:avLst>
              <a:gd name="adj" fmla="val 962"/>
            </a:avLst>
          </a:prstGeom>
          <a:solidFill>
            <a:srgbClr val="0B1720"/>
          </a:solidFill>
          <a:ln w="12700">
            <a:solidFill>
              <a:srgbClr val="0B1720"/>
            </a:solidFill>
            <a:prstDash val="solid"/>
          </a:ln>
          <a:effectLst>
            <a:outerShdw sx="100000" sy="100000" kx="0" ky="0" algn="bl" rotWithShape="0" blurRad="25400" dist="12700" dir="2700000">
              <a:srgbClr val="000000">
                <a:alpha val="18000"/>
              </a:srgbClr>
            </a:outerShdw>
          </a:effectLst>
        </p:spPr>
      </p:sp>
      <p:sp>
        <p:nvSpPr>
          <p:cNvPr id="6" name="Text 3"/>
          <p:cNvSpPr/>
          <p:nvPr/>
        </p:nvSpPr>
        <p:spPr>
          <a:xfrm>
            <a:off x="804672" y="1252728"/>
            <a:ext cx="5477256" cy="182880"/>
          </a:xfrm>
          <a:prstGeom prst="rect">
            <a:avLst/>
          </a:prstGeom>
          <a:noFill/>
          <a:ln/>
        </p:spPr>
        <p:txBody>
          <a:bodyPr wrap="square" lIns="0" tIns="0" rIns="0" bIns="0" rtlCol="0" anchor="ctr"/>
          <a:lstStyle/>
          <a:p>
            <a:pPr indent="0" marL="0">
              <a:buNone/>
            </a:pPr>
            <a:r>
              <a:rPr lang="en-US" sz="900" b="1" dirty="0">
                <a:solidFill>
                  <a:srgbClr val="E7B94B"/>
                </a:solidFill>
              </a:rPr>
              <a:t>Controllers/PropertiesController.cs</a:t>
            </a:r>
            <a:endParaRPr lang="en-US" sz="900" dirty="0"/>
          </a:p>
        </p:txBody>
      </p:sp>
      <p:sp>
        <p:nvSpPr>
          <p:cNvPr id="7" name="Text 4"/>
          <p:cNvSpPr/>
          <p:nvPr/>
        </p:nvSpPr>
        <p:spPr>
          <a:xfrm>
            <a:off x="804672" y="1527048"/>
            <a:ext cx="5477256" cy="4242816"/>
          </a:xfrm>
          <a:prstGeom prst="rect">
            <a:avLst/>
          </a:prstGeom>
          <a:noFill/>
          <a:ln/>
        </p:spPr>
        <p:txBody>
          <a:bodyPr wrap="square" lIns="0" tIns="0" rIns="0" bIns="0" rtlCol="0" anchor="t">
            <a:normAutofit/>
          </a:bodyPr>
          <a:lstStyle/>
          <a:p>
            <a:pPr indent="0" marL="0">
              <a:buNone/>
            </a:pPr>
            <a:r>
              <a:rPr lang="en-US" sz="850" dirty="0">
                <a:solidFill>
                  <a:srgbClr val="E8F1FF"/>
                </a:solidFill>
                <a:latin typeface="Consolas" pitchFamily="34" charset="0"/>
                <a:ea typeface="Consolas" pitchFamily="34" charset="-122"/>
                <a:cs typeface="Consolas" pitchFamily="34" charset="-120"/>
              </a:rPr>
              <a:t>[ApiController]</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[Route("api/[controller]")]</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public class PropertiesController : ControllerBase</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private readonly PropertyData _data;</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private readonly OwnerData _ownerData;</a:t>
            </a:r>
            <a:endParaRPr lang="en-US" sz="850" dirty="0"/>
          </a:p>
          <a:p>
            <a:pPr indent="0" marL="0">
              <a:buNone/>
            </a:pP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public PropertiesController(PropertyData data, OwnerData ownerData)</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_data = data;</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_ownerData = ownerData;</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a:t>
            </a:r>
            <a:endParaRPr lang="en-US" sz="850" dirty="0"/>
          </a:p>
          <a:p>
            <a:pPr indent="0" marL="0">
              <a:buNone/>
            </a:pP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[HttpGet]</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public IActionResult GetAll(string? search = null, string? status = null, string? type = null)</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List&lt;Property&gt; properties = _data.GetAllProperties();</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if (!string.IsNullOrWhiteSpace(search))</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properties = (from property in properties</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where property.PropertyName.Contains(search, StringComparison.OrdinalIgnoreCase)</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select property).ToList();</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return Ok(properties);</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E8F1FF"/>
                </a:solidFill>
                <a:latin typeface="Consolas" pitchFamily="34" charset="0"/>
                <a:ea typeface="Consolas" pitchFamily="34" charset="-122"/>
                <a:cs typeface="Consolas" pitchFamily="34" charset="-120"/>
              </a:rPr>
              <a:t>}</a:t>
            </a:r>
            <a:endParaRPr lang="en-US" sz="850" dirty="0"/>
          </a:p>
        </p:txBody>
      </p:sp>
      <p:sp>
        <p:nvSpPr>
          <p:cNvPr id="8" name="Shape 5"/>
          <p:cNvSpPr/>
          <p:nvPr/>
        </p:nvSpPr>
        <p:spPr>
          <a:xfrm>
            <a:off x="6766560" y="1234440"/>
            <a:ext cx="4389120" cy="1005840"/>
          </a:xfrm>
          <a:prstGeom prst="roundRect">
            <a:avLst>
              <a:gd name="adj" fmla="val 7273"/>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9" name="Text 6"/>
          <p:cNvSpPr/>
          <p:nvPr/>
        </p:nvSpPr>
        <p:spPr>
          <a:xfrm>
            <a:off x="6995160" y="1435608"/>
            <a:ext cx="393192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Routing</a:t>
            </a:r>
            <a:endParaRPr lang="en-US" sz="1500" dirty="0"/>
          </a:p>
        </p:txBody>
      </p:sp>
      <p:sp>
        <p:nvSpPr>
          <p:cNvPr id="10" name="Text 7"/>
          <p:cNvSpPr/>
          <p:nvPr/>
        </p:nvSpPr>
        <p:spPr>
          <a:xfrm>
            <a:off x="6995160" y="1819656"/>
            <a:ext cx="3931920" cy="219456"/>
          </a:xfrm>
          <a:prstGeom prst="rect">
            <a:avLst/>
          </a:prstGeom>
          <a:noFill/>
          <a:ln/>
        </p:spPr>
        <p:txBody>
          <a:bodyPr wrap="square" lIns="254" tIns="254" rIns="254" bIns="254" rtlCol="0" anchor="t">
            <a:normAutofit/>
          </a:bodyPr>
          <a:lstStyle/>
          <a:p>
            <a:pPr indent="0" marL="0">
              <a:buNone/>
            </a:pPr>
            <a:r>
              <a:rPr lang="en-US" sz="1150" dirty="0">
                <a:solidFill>
                  <a:srgbClr val="15304A"/>
                </a:solidFill>
              </a:rPr>
              <a:t>api/[controller] means PropertiesController becomes /api/Properties.</a:t>
            </a:r>
            <a:endParaRPr lang="en-US" sz="1150" dirty="0"/>
          </a:p>
        </p:txBody>
      </p:sp>
      <p:sp>
        <p:nvSpPr>
          <p:cNvPr id="11" name="Shape 8"/>
          <p:cNvSpPr/>
          <p:nvPr/>
        </p:nvSpPr>
        <p:spPr>
          <a:xfrm>
            <a:off x="6766560" y="2468880"/>
            <a:ext cx="4389120" cy="1005840"/>
          </a:xfrm>
          <a:prstGeom prst="roundRect">
            <a:avLst>
              <a:gd name="adj" fmla="val 7273"/>
            </a:avLst>
          </a:prstGeom>
          <a:solidFill>
            <a:srgbClr val="EAF2F9"/>
          </a:solidFill>
          <a:ln w="12700">
            <a:solidFill>
              <a:srgbClr val="174A7E"/>
            </a:solidFill>
            <a:prstDash val="solid"/>
          </a:ln>
          <a:effectLst>
            <a:outerShdw sx="100000" sy="100000" kx="0" ky="0" algn="bl" rotWithShape="0" blurRad="25400" dist="12700" dir="2700000">
              <a:srgbClr val="000000">
                <a:alpha val="12000"/>
              </a:srgbClr>
            </a:outerShdw>
          </a:effectLst>
        </p:spPr>
      </p:sp>
      <p:sp>
        <p:nvSpPr>
          <p:cNvPr id="12" name="Text 9"/>
          <p:cNvSpPr/>
          <p:nvPr/>
        </p:nvSpPr>
        <p:spPr>
          <a:xfrm>
            <a:off x="6995160" y="2670048"/>
            <a:ext cx="393192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Validation</a:t>
            </a:r>
            <a:endParaRPr lang="en-US" sz="1500" dirty="0"/>
          </a:p>
        </p:txBody>
      </p:sp>
      <p:sp>
        <p:nvSpPr>
          <p:cNvPr id="13" name="Text 10"/>
          <p:cNvSpPr/>
          <p:nvPr/>
        </p:nvSpPr>
        <p:spPr>
          <a:xfrm>
            <a:off x="6995160" y="3054096"/>
            <a:ext cx="3931920" cy="219456"/>
          </a:xfrm>
          <a:prstGeom prst="rect">
            <a:avLst/>
          </a:prstGeom>
          <a:noFill/>
          <a:ln/>
        </p:spPr>
        <p:txBody>
          <a:bodyPr wrap="square" lIns="254" tIns="254" rIns="254" bIns="254" rtlCol="0" anchor="t">
            <a:normAutofit/>
          </a:bodyPr>
          <a:lstStyle/>
          <a:p>
            <a:pPr indent="0" marL="0">
              <a:buNone/>
            </a:pPr>
            <a:r>
              <a:rPr lang="en-US" sz="1150" dirty="0">
                <a:solidFill>
                  <a:srgbClr val="15304A"/>
                </a:solidFill>
              </a:rPr>
              <a:t>Before creating a property, the controller checks that the selected owner exists and the name is not duplicated.</a:t>
            </a:r>
            <a:endParaRPr lang="en-US" sz="1150" dirty="0"/>
          </a:p>
        </p:txBody>
      </p:sp>
      <p:sp>
        <p:nvSpPr>
          <p:cNvPr id="14" name="Shape 11"/>
          <p:cNvSpPr/>
          <p:nvPr/>
        </p:nvSpPr>
        <p:spPr>
          <a:xfrm>
            <a:off x="6766560" y="3703320"/>
            <a:ext cx="4389120" cy="1005840"/>
          </a:xfrm>
          <a:prstGeom prst="roundRect">
            <a:avLst>
              <a:gd name="adj" fmla="val 7273"/>
            </a:avLst>
          </a:prstGeom>
          <a:solidFill>
            <a:srgbClr val="FFF7DF"/>
          </a:solidFill>
          <a:ln w="12700">
            <a:solidFill>
              <a:srgbClr val="E7B94B"/>
            </a:solidFill>
            <a:prstDash val="solid"/>
          </a:ln>
          <a:effectLst>
            <a:outerShdw sx="100000" sy="100000" kx="0" ky="0" algn="bl" rotWithShape="0" blurRad="25400" dist="12700" dir="2700000">
              <a:srgbClr val="000000">
                <a:alpha val="12000"/>
              </a:srgbClr>
            </a:outerShdw>
          </a:effectLst>
        </p:spPr>
      </p:sp>
      <p:sp>
        <p:nvSpPr>
          <p:cNvPr id="15" name="Text 12"/>
          <p:cNvSpPr/>
          <p:nvPr/>
        </p:nvSpPr>
        <p:spPr>
          <a:xfrm>
            <a:off x="6995160" y="3904488"/>
            <a:ext cx="393192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HTTP responses</a:t>
            </a:r>
            <a:endParaRPr lang="en-US" sz="1500" dirty="0"/>
          </a:p>
        </p:txBody>
      </p:sp>
      <p:sp>
        <p:nvSpPr>
          <p:cNvPr id="16" name="Text 13"/>
          <p:cNvSpPr/>
          <p:nvPr/>
        </p:nvSpPr>
        <p:spPr>
          <a:xfrm>
            <a:off x="6995160" y="4288536"/>
            <a:ext cx="3931920" cy="219456"/>
          </a:xfrm>
          <a:prstGeom prst="rect">
            <a:avLst/>
          </a:prstGeom>
          <a:noFill/>
          <a:ln/>
        </p:spPr>
        <p:txBody>
          <a:bodyPr wrap="square" lIns="254" tIns="254" rIns="254" bIns="254" rtlCol="0" anchor="t">
            <a:normAutofit/>
          </a:bodyPr>
          <a:lstStyle/>
          <a:p>
            <a:pPr indent="0" marL="0">
              <a:buNone/>
            </a:pPr>
            <a:r>
              <a:rPr lang="en-US" sz="1150" dirty="0">
                <a:solidFill>
                  <a:srgbClr val="15304A"/>
                </a:solidFill>
              </a:rPr>
              <a:t>Returns Ok, CreatedAtAction, NotFound, Conflict or BadRequest depending on the result.</a:t>
            </a:r>
            <a:endParaRPr lang="en-US" sz="115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94360" y="310896"/>
            <a:ext cx="2926080" cy="201168"/>
          </a:xfrm>
          <a:prstGeom prst="rect">
            <a:avLst/>
          </a:prstGeom>
          <a:noFill/>
          <a:ln/>
        </p:spPr>
        <p:txBody>
          <a:bodyPr wrap="square" lIns="0" tIns="0" rIns="0" bIns="0" rtlCol="0" anchor="ctr"/>
          <a:lstStyle/>
          <a:p>
            <a:pPr indent="0" marL="0">
              <a:buNone/>
            </a:pPr>
            <a:r>
              <a:rPr lang="en-US" sz="950" b="1" dirty="0">
                <a:solidFill>
                  <a:srgbClr val="B78314"/>
                </a:solidFill>
              </a:rPr>
              <a:t>Core concepts mastered</a:t>
            </a:r>
            <a:endParaRPr lang="en-US" sz="950" dirty="0"/>
          </a:p>
        </p:txBody>
      </p:sp>
      <p:sp>
        <p:nvSpPr>
          <p:cNvPr id="3" name="Text 1"/>
          <p:cNvSpPr/>
          <p:nvPr/>
        </p:nvSpPr>
        <p:spPr>
          <a:xfrm>
            <a:off x="594360" y="566928"/>
            <a:ext cx="10424160" cy="502920"/>
          </a:xfrm>
          <a:prstGeom prst="rect">
            <a:avLst/>
          </a:prstGeom>
          <a:noFill/>
          <a:ln/>
        </p:spPr>
        <p:txBody>
          <a:bodyPr wrap="square" lIns="0" tIns="0" rIns="0" bIns="0" rtlCol="0" anchor="ctr">
            <a:normAutofit/>
          </a:bodyPr>
          <a:lstStyle/>
          <a:p>
            <a:pPr indent="0" marL="0">
              <a:buNone/>
            </a:pPr>
            <a:r>
              <a:rPr lang="en-US" sz="2550" b="1" dirty="0">
                <a:solidFill>
                  <a:srgbClr val="10375F"/>
                </a:solidFill>
              </a:rPr>
              <a:t>What I learned from the project</a:t>
            </a:r>
            <a:endParaRPr lang="en-US" sz="2550" dirty="0"/>
          </a:p>
        </p:txBody>
      </p:sp>
      <p:pic>
        <p:nvPicPr>
          <p:cNvPr id="4" name="Image 0" descr="/mnt/data/rentalpro_doc_assets/logo-mark.png">    </p:cNvPr>
          <p:cNvPicPr>
            <a:picLocks noChangeAspect="1"/>
          </p:cNvPicPr>
          <p:nvPr/>
        </p:nvPicPr>
        <p:blipFill>
          <a:blip r:embed="rId1"/>
          <a:stretch>
            <a:fillRect/>
          </a:stretch>
        </p:blipFill>
        <p:spPr>
          <a:xfrm>
            <a:off x="11109960" y="292608"/>
            <a:ext cx="438912" cy="438912"/>
          </a:xfrm>
          <a:prstGeom prst="rect">
            <a:avLst/>
          </a:prstGeom>
        </p:spPr>
      </p:pic>
      <p:sp>
        <p:nvSpPr>
          <p:cNvPr id="5" name="Shape 2"/>
          <p:cNvSpPr/>
          <p:nvPr/>
        </p:nvSpPr>
        <p:spPr>
          <a:xfrm>
            <a:off x="658368" y="1298448"/>
            <a:ext cx="2514600" cy="2926080"/>
          </a:xfrm>
          <a:prstGeom prst="roundRect">
            <a:avLst>
              <a:gd name="adj" fmla="val 2182"/>
            </a:avLst>
          </a:prstGeom>
          <a:solidFill>
            <a:srgbClr val="FFFFFF"/>
          </a:solidFill>
          <a:ln w="15240">
            <a:solidFill>
              <a:srgbClr val="174A7E"/>
            </a:solidFill>
            <a:prstDash val="solid"/>
          </a:ln>
        </p:spPr>
      </p:sp>
      <p:sp>
        <p:nvSpPr>
          <p:cNvPr id="6" name="Shape 3"/>
          <p:cNvSpPr/>
          <p:nvPr/>
        </p:nvSpPr>
        <p:spPr>
          <a:xfrm>
            <a:off x="658368" y="1298448"/>
            <a:ext cx="2514600" cy="438912"/>
          </a:xfrm>
          <a:prstGeom prst="roundRect">
            <a:avLst>
              <a:gd name="adj" fmla="val 12500"/>
            </a:avLst>
          </a:prstGeom>
          <a:solidFill>
            <a:srgbClr val="174A7E"/>
          </a:solidFill>
          <a:ln w="12700">
            <a:solidFill>
              <a:srgbClr val="174A7E"/>
            </a:solidFill>
            <a:prstDash val="solid"/>
          </a:ln>
        </p:spPr>
      </p:sp>
      <p:sp>
        <p:nvSpPr>
          <p:cNvPr id="7" name="Text 4"/>
          <p:cNvSpPr/>
          <p:nvPr/>
        </p:nvSpPr>
        <p:spPr>
          <a:xfrm>
            <a:off x="822960" y="1444752"/>
            <a:ext cx="2185416" cy="137160"/>
          </a:xfrm>
          <a:prstGeom prst="rect">
            <a:avLst/>
          </a:prstGeom>
          <a:noFill/>
          <a:ln/>
        </p:spPr>
        <p:txBody>
          <a:bodyPr wrap="square" lIns="0" tIns="0" rIns="0" bIns="0" rtlCol="0" anchor="ctr"/>
          <a:lstStyle/>
          <a:p>
            <a:pPr indent="0" marL="0">
              <a:buNone/>
            </a:pPr>
            <a:r>
              <a:rPr lang="en-US" sz="1200" b="1" dirty="0">
                <a:solidFill>
                  <a:srgbClr val="FFFFFF"/>
                </a:solidFill>
              </a:rPr>
              <a:t>React + Vite</a:t>
            </a:r>
            <a:endParaRPr lang="en-US" sz="1200" dirty="0"/>
          </a:p>
        </p:txBody>
      </p:sp>
      <p:sp>
        <p:nvSpPr>
          <p:cNvPr id="8" name="Text 5"/>
          <p:cNvSpPr/>
          <p:nvPr/>
        </p:nvSpPr>
        <p:spPr>
          <a:xfrm>
            <a:off x="822960" y="184708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Route pages clearly</a:t>
            </a:r>
            <a:endParaRPr lang="en-US" sz="850" dirty="0"/>
          </a:p>
        </p:txBody>
      </p:sp>
      <p:sp>
        <p:nvSpPr>
          <p:cNvPr id="9" name="Shape 6"/>
          <p:cNvSpPr/>
          <p:nvPr/>
        </p:nvSpPr>
        <p:spPr>
          <a:xfrm>
            <a:off x="768096" y="2398014"/>
            <a:ext cx="2295144" cy="0"/>
          </a:xfrm>
          <a:prstGeom prst="line">
            <a:avLst/>
          </a:prstGeom>
          <a:noFill/>
          <a:ln w="7620">
            <a:solidFill>
              <a:srgbClr val="DCE6EF"/>
            </a:solidFill>
            <a:prstDash val="solid"/>
          </a:ln>
        </p:spPr>
      </p:sp>
      <p:sp>
        <p:nvSpPr>
          <p:cNvPr id="10" name="Text 7"/>
          <p:cNvSpPr/>
          <p:nvPr/>
        </p:nvSpPr>
        <p:spPr>
          <a:xfrm>
            <a:off x="822960" y="245287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Use Axios client once</a:t>
            </a:r>
            <a:endParaRPr lang="en-US" sz="850" dirty="0"/>
          </a:p>
        </p:txBody>
      </p:sp>
      <p:sp>
        <p:nvSpPr>
          <p:cNvPr id="11" name="Shape 8"/>
          <p:cNvSpPr/>
          <p:nvPr/>
        </p:nvSpPr>
        <p:spPr>
          <a:xfrm>
            <a:off x="768096" y="3003804"/>
            <a:ext cx="2295144" cy="0"/>
          </a:xfrm>
          <a:prstGeom prst="line">
            <a:avLst/>
          </a:prstGeom>
          <a:noFill/>
          <a:ln w="7620">
            <a:solidFill>
              <a:srgbClr val="DCE6EF"/>
            </a:solidFill>
            <a:prstDash val="solid"/>
          </a:ln>
        </p:spPr>
      </p:sp>
      <p:sp>
        <p:nvSpPr>
          <p:cNvPr id="12" name="Text 9"/>
          <p:cNvSpPr/>
          <p:nvPr/>
        </p:nvSpPr>
        <p:spPr>
          <a:xfrm>
            <a:off x="822960" y="305866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Use /api with Vite proxy</a:t>
            </a:r>
            <a:endParaRPr lang="en-US" sz="850" dirty="0"/>
          </a:p>
        </p:txBody>
      </p:sp>
      <p:sp>
        <p:nvSpPr>
          <p:cNvPr id="13" name="Shape 10"/>
          <p:cNvSpPr/>
          <p:nvPr/>
        </p:nvSpPr>
        <p:spPr>
          <a:xfrm>
            <a:off x="768096" y="3609594"/>
            <a:ext cx="2295144" cy="0"/>
          </a:xfrm>
          <a:prstGeom prst="line">
            <a:avLst/>
          </a:prstGeom>
          <a:noFill/>
          <a:ln w="7620">
            <a:solidFill>
              <a:srgbClr val="DCE6EF"/>
            </a:solidFill>
            <a:prstDash val="solid"/>
          </a:ln>
        </p:spPr>
      </p:sp>
      <p:sp>
        <p:nvSpPr>
          <p:cNvPr id="14" name="Text 11"/>
          <p:cNvSpPr/>
          <p:nvPr/>
        </p:nvSpPr>
        <p:spPr>
          <a:xfrm>
            <a:off x="822960" y="366445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Build to dist for production</a:t>
            </a:r>
            <a:endParaRPr lang="en-US" sz="850" dirty="0"/>
          </a:p>
        </p:txBody>
      </p:sp>
      <p:sp>
        <p:nvSpPr>
          <p:cNvPr id="15" name="Shape 12"/>
          <p:cNvSpPr/>
          <p:nvPr/>
        </p:nvSpPr>
        <p:spPr>
          <a:xfrm>
            <a:off x="3401568" y="1298448"/>
            <a:ext cx="2514600" cy="2926080"/>
          </a:xfrm>
          <a:prstGeom prst="roundRect">
            <a:avLst>
              <a:gd name="adj" fmla="val 2182"/>
            </a:avLst>
          </a:prstGeom>
          <a:solidFill>
            <a:srgbClr val="FFFFFF"/>
          </a:solidFill>
          <a:ln w="15240">
            <a:solidFill>
              <a:srgbClr val="B78314"/>
            </a:solidFill>
            <a:prstDash val="solid"/>
          </a:ln>
        </p:spPr>
      </p:sp>
      <p:sp>
        <p:nvSpPr>
          <p:cNvPr id="16" name="Shape 13"/>
          <p:cNvSpPr/>
          <p:nvPr/>
        </p:nvSpPr>
        <p:spPr>
          <a:xfrm>
            <a:off x="3401568" y="1298448"/>
            <a:ext cx="2514600" cy="438912"/>
          </a:xfrm>
          <a:prstGeom prst="roundRect">
            <a:avLst>
              <a:gd name="adj" fmla="val 12500"/>
            </a:avLst>
          </a:prstGeom>
          <a:solidFill>
            <a:srgbClr val="B78314"/>
          </a:solidFill>
          <a:ln w="12700">
            <a:solidFill>
              <a:srgbClr val="B78314"/>
            </a:solidFill>
            <a:prstDash val="solid"/>
          </a:ln>
        </p:spPr>
      </p:sp>
      <p:sp>
        <p:nvSpPr>
          <p:cNvPr id="17" name="Text 14"/>
          <p:cNvSpPr/>
          <p:nvPr/>
        </p:nvSpPr>
        <p:spPr>
          <a:xfrm>
            <a:off x="3566160" y="1444752"/>
            <a:ext cx="2185416" cy="137160"/>
          </a:xfrm>
          <a:prstGeom prst="rect">
            <a:avLst/>
          </a:prstGeom>
          <a:noFill/>
          <a:ln/>
        </p:spPr>
        <p:txBody>
          <a:bodyPr wrap="square" lIns="0" tIns="0" rIns="0" bIns="0" rtlCol="0" anchor="ctr"/>
          <a:lstStyle/>
          <a:p>
            <a:pPr indent="0" marL="0">
              <a:buNone/>
            </a:pPr>
            <a:r>
              <a:rPr lang="en-US" sz="1200" b="1" dirty="0">
                <a:solidFill>
                  <a:srgbClr val="FFFFFF"/>
                </a:solidFill>
              </a:rPr>
              <a:t>wwwroot</a:t>
            </a:r>
            <a:endParaRPr lang="en-US" sz="1200" dirty="0"/>
          </a:p>
        </p:txBody>
      </p:sp>
      <p:sp>
        <p:nvSpPr>
          <p:cNvPr id="18" name="Text 15"/>
          <p:cNvSpPr/>
          <p:nvPr/>
        </p:nvSpPr>
        <p:spPr>
          <a:xfrm>
            <a:off x="3566160" y="184708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wwwroot is public output</a:t>
            </a:r>
            <a:endParaRPr lang="en-US" sz="850" dirty="0"/>
          </a:p>
        </p:txBody>
      </p:sp>
      <p:sp>
        <p:nvSpPr>
          <p:cNvPr id="19" name="Shape 16"/>
          <p:cNvSpPr/>
          <p:nvPr/>
        </p:nvSpPr>
        <p:spPr>
          <a:xfrm>
            <a:off x="3511296" y="2398014"/>
            <a:ext cx="2295144" cy="0"/>
          </a:xfrm>
          <a:prstGeom prst="line">
            <a:avLst/>
          </a:prstGeom>
          <a:noFill/>
          <a:ln w="7620">
            <a:solidFill>
              <a:srgbClr val="DCE6EF"/>
            </a:solidFill>
            <a:prstDash val="solid"/>
          </a:ln>
        </p:spPr>
      </p:sp>
      <p:sp>
        <p:nvSpPr>
          <p:cNvPr id="20" name="Text 17"/>
          <p:cNvSpPr/>
          <p:nvPr/>
        </p:nvSpPr>
        <p:spPr>
          <a:xfrm>
            <a:off x="3566160" y="245287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Do not edit generated JS/CSS</a:t>
            </a:r>
            <a:endParaRPr lang="en-US" sz="850" dirty="0"/>
          </a:p>
        </p:txBody>
      </p:sp>
      <p:sp>
        <p:nvSpPr>
          <p:cNvPr id="21" name="Shape 18"/>
          <p:cNvSpPr/>
          <p:nvPr/>
        </p:nvSpPr>
        <p:spPr>
          <a:xfrm>
            <a:off x="3511296" y="3003804"/>
            <a:ext cx="2295144" cy="0"/>
          </a:xfrm>
          <a:prstGeom prst="line">
            <a:avLst/>
          </a:prstGeom>
          <a:noFill/>
          <a:ln w="7620">
            <a:solidFill>
              <a:srgbClr val="DCE6EF"/>
            </a:solidFill>
            <a:prstDash val="solid"/>
          </a:ln>
        </p:spPr>
      </p:sp>
      <p:sp>
        <p:nvSpPr>
          <p:cNvPr id="22" name="Text 19"/>
          <p:cNvSpPr/>
          <p:nvPr/>
        </p:nvSpPr>
        <p:spPr>
          <a:xfrm>
            <a:off x="3566160" y="305866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Copy dist contents only</a:t>
            </a:r>
            <a:endParaRPr lang="en-US" sz="850" dirty="0"/>
          </a:p>
        </p:txBody>
      </p:sp>
      <p:sp>
        <p:nvSpPr>
          <p:cNvPr id="23" name="Shape 20"/>
          <p:cNvSpPr/>
          <p:nvPr/>
        </p:nvSpPr>
        <p:spPr>
          <a:xfrm>
            <a:off x="3511296" y="3609594"/>
            <a:ext cx="2295144" cy="0"/>
          </a:xfrm>
          <a:prstGeom prst="line">
            <a:avLst/>
          </a:prstGeom>
          <a:noFill/>
          <a:ln w="7620">
            <a:solidFill>
              <a:srgbClr val="DCE6EF"/>
            </a:solidFill>
            <a:prstDash val="solid"/>
          </a:ln>
        </p:spPr>
      </p:sp>
      <p:sp>
        <p:nvSpPr>
          <p:cNvPr id="24" name="Text 21"/>
          <p:cNvSpPr/>
          <p:nvPr/>
        </p:nvSpPr>
        <p:spPr>
          <a:xfrm>
            <a:off x="3566160" y="366445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Restart + hard refresh</a:t>
            </a:r>
            <a:endParaRPr lang="en-US" sz="850" dirty="0"/>
          </a:p>
        </p:txBody>
      </p:sp>
      <p:sp>
        <p:nvSpPr>
          <p:cNvPr id="25" name="Shape 22"/>
          <p:cNvSpPr/>
          <p:nvPr/>
        </p:nvSpPr>
        <p:spPr>
          <a:xfrm>
            <a:off x="6144768" y="1298448"/>
            <a:ext cx="2514600" cy="2926080"/>
          </a:xfrm>
          <a:prstGeom prst="roundRect">
            <a:avLst>
              <a:gd name="adj" fmla="val 2182"/>
            </a:avLst>
          </a:prstGeom>
          <a:solidFill>
            <a:srgbClr val="FFFFFF"/>
          </a:solidFill>
          <a:ln w="15240">
            <a:solidFill>
              <a:srgbClr val="174A7E"/>
            </a:solidFill>
            <a:prstDash val="solid"/>
          </a:ln>
        </p:spPr>
      </p:sp>
      <p:sp>
        <p:nvSpPr>
          <p:cNvPr id="26" name="Shape 23"/>
          <p:cNvSpPr/>
          <p:nvPr/>
        </p:nvSpPr>
        <p:spPr>
          <a:xfrm>
            <a:off x="6144768" y="1298448"/>
            <a:ext cx="2514600" cy="438912"/>
          </a:xfrm>
          <a:prstGeom prst="roundRect">
            <a:avLst>
              <a:gd name="adj" fmla="val 12500"/>
            </a:avLst>
          </a:prstGeom>
          <a:solidFill>
            <a:srgbClr val="174A7E"/>
          </a:solidFill>
          <a:ln w="12700">
            <a:solidFill>
              <a:srgbClr val="174A7E"/>
            </a:solidFill>
            <a:prstDash val="solid"/>
          </a:ln>
        </p:spPr>
      </p:sp>
      <p:sp>
        <p:nvSpPr>
          <p:cNvPr id="27" name="Text 24"/>
          <p:cNvSpPr/>
          <p:nvPr/>
        </p:nvSpPr>
        <p:spPr>
          <a:xfrm>
            <a:off x="6309360" y="1444752"/>
            <a:ext cx="2185416" cy="137160"/>
          </a:xfrm>
          <a:prstGeom prst="rect">
            <a:avLst/>
          </a:prstGeom>
          <a:noFill/>
          <a:ln/>
        </p:spPr>
        <p:txBody>
          <a:bodyPr wrap="square" lIns="0" tIns="0" rIns="0" bIns="0" rtlCol="0" anchor="ctr"/>
          <a:lstStyle/>
          <a:p>
            <a:pPr indent="0" marL="0">
              <a:buNone/>
            </a:pPr>
            <a:r>
              <a:rPr lang="en-US" sz="1200" b="1" dirty="0">
                <a:solidFill>
                  <a:srgbClr val="FFFFFF"/>
                </a:solidFill>
              </a:rPr>
              <a:t>Dependency Injection</a:t>
            </a:r>
            <a:endParaRPr lang="en-US" sz="1200" dirty="0"/>
          </a:p>
        </p:txBody>
      </p:sp>
      <p:sp>
        <p:nvSpPr>
          <p:cNvPr id="28" name="Text 25"/>
          <p:cNvSpPr/>
          <p:nvPr/>
        </p:nvSpPr>
        <p:spPr>
          <a:xfrm>
            <a:off x="6309360" y="184708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Register data classes</a:t>
            </a:r>
            <a:endParaRPr lang="en-US" sz="850" dirty="0"/>
          </a:p>
        </p:txBody>
      </p:sp>
      <p:sp>
        <p:nvSpPr>
          <p:cNvPr id="29" name="Shape 26"/>
          <p:cNvSpPr/>
          <p:nvPr/>
        </p:nvSpPr>
        <p:spPr>
          <a:xfrm>
            <a:off x="6254496" y="2398014"/>
            <a:ext cx="2295144" cy="0"/>
          </a:xfrm>
          <a:prstGeom prst="line">
            <a:avLst/>
          </a:prstGeom>
          <a:noFill/>
          <a:ln w="7620">
            <a:solidFill>
              <a:srgbClr val="DCE6EF"/>
            </a:solidFill>
            <a:prstDash val="solid"/>
          </a:ln>
        </p:spPr>
      </p:sp>
      <p:sp>
        <p:nvSpPr>
          <p:cNvPr id="30" name="Text 27"/>
          <p:cNvSpPr/>
          <p:nvPr/>
        </p:nvSpPr>
        <p:spPr>
          <a:xfrm>
            <a:off x="6309360" y="245287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Inject through constructor</a:t>
            </a:r>
            <a:endParaRPr lang="en-US" sz="850" dirty="0"/>
          </a:p>
        </p:txBody>
      </p:sp>
      <p:sp>
        <p:nvSpPr>
          <p:cNvPr id="31" name="Shape 28"/>
          <p:cNvSpPr/>
          <p:nvPr/>
        </p:nvSpPr>
        <p:spPr>
          <a:xfrm>
            <a:off x="6254496" y="3003804"/>
            <a:ext cx="2295144" cy="0"/>
          </a:xfrm>
          <a:prstGeom prst="line">
            <a:avLst/>
          </a:prstGeom>
          <a:noFill/>
          <a:ln w="7620">
            <a:solidFill>
              <a:srgbClr val="DCE6EF"/>
            </a:solidFill>
            <a:prstDash val="solid"/>
          </a:ln>
        </p:spPr>
      </p:sp>
      <p:sp>
        <p:nvSpPr>
          <p:cNvPr id="32" name="Text 29"/>
          <p:cNvSpPr/>
          <p:nvPr/>
        </p:nvSpPr>
        <p:spPr>
          <a:xfrm>
            <a:off x="6309360" y="305866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Use scoped lifetime</a:t>
            </a:r>
            <a:endParaRPr lang="en-US" sz="850" dirty="0"/>
          </a:p>
        </p:txBody>
      </p:sp>
      <p:sp>
        <p:nvSpPr>
          <p:cNvPr id="33" name="Shape 30"/>
          <p:cNvSpPr/>
          <p:nvPr/>
        </p:nvSpPr>
        <p:spPr>
          <a:xfrm>
            <a:off x="6254496" y="3609594"/>
            <a:ext cx="2295144" cy="0"/>
          </a:xfrm>
          <a:prstGeom prst="line">
            <a:avLst/>
          </a:prstGeom>
          <a:noFill/>
          <a:ln w="7620">
            <a:solidFill>
              <a:srgbClr val="DCE6EF"/>
            </a:solidFill>
            <a:prstDash val="solid"/>
          </a:ln>
        </p:spPr>
      </p:sp>
      <p:sp>
        <p:nvSpPr>
          <p:cNvPr id="34" name="Text 31"/>
          <p:cNvSpPr/>
          <p:nvPr/>
        </p:nvSpPr>
        <p:spPr>
          <a:xfrm>
            <a:off x="6309360" y="366445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Keep controllers clean</a:t>
            </a:r>
            <a:endParaRPr lang="en-US" sz="850" dirty="0"/>
          </a:p>
        </p:txBody>
      </p:sp>
      <p:sp>
        <p:nvSpPr>
          <p:cNvPr id="35" name="Shape 32"/>
          <p:cNvSpPr/>
          <p:nvPr/>
        </p:nvSpPr>
        <p:spPr>
          <a:xfrm>
            <a:off x="8887968" y="1298448"/>
            <a:ext cx="2514600" cy="2926080"/>
          </a:xfrm>
          <a:prstGeom prst="roundRect">
            <a:avLst>
              <a:gd name="adj" fmla="val 2182"/>
            </a:avLst>
          </a:prstGeom>
          <a:solidFill>
            <a:srgbClr val="FFFFFF"/>
          </a:solidFill>
          <a:ln w="15240">
            <a:solidFill>
              <a:srgbClr val="B78314"/>
            </a:solidFill>
            <a:prstDash val="solid"/>
          </a:ln>
        </p:spPr>
      </p:sp>
      <p:sp>
        <p:nvSpPr>
          <p:cNvPr id="36" name="Shape 33"/>
          <p:cNvSpPr/>
          <p:nvPr/>
        </p:nvSpPr>
        <p:spPr>
          <a:xfrm>
            <a:off x="8887968" y="1298448"/>
            <a:ext cx="2514600" cy="438912"/>
          </a:xfrm>
          <a:prstGeom prst="roundRect">
            <a:avLst>
              <a:gd name="adj" fmla="val 12500"/>
            </a:avLst>
          </a:prstGeom>
          <a:solidFill>
            <a:srgbClr val="B78314"/>
          </a:solidFill>
          <a:ln w="12700">
            <a:solidFill>
              <a:srgbClr val="B78314"/>
            </a:solidFill>
            <a:prstDash val="solid"/>
          </a:ln>
        </p:spPr>
      </p:sp>
      <p:sp>
        <p:nvSpPr>
          <p:cNvPr id="37" name="Text 34"/>
          <p:cNvSpPr/>
          <p:nvPr/>
        </p:nvSpPr>
        <p:spPr>
          <a:xfrm>
            <a:off x="9052560" y="1444752"/>
            <a:ext cx="2185416" cy="137160"/>
          </a:xfrm>
          <a:prstGeom prst="rect">
            <a:avLst/>
          </a:prstGeom>
          <a:noFill/>
          <a:ln/>
        </p:spPr>
        <p:txBody>
          <a:bodyPr wrap="square" lIns="0" tIns="0" rIns="0" bIns="0" rtlCol="0" anchor="ctr"/>
          <a:lstStyle/>
          <a:p>
            <a:pPr indent="0" marL="0">
              <a:buNone/>
            </a:pPr>
            <a:r>
              <a:rPr lang="en-US" sz="1200" b="1" dirty="0">
                <a:solidFill>
                  <a:srgbClr val="FFFFFF"/>
                </a:solidFill>
              </a:rPr>
              <a:t>Backend phases</a:t>
            </a:r>
            <a:endParaRPr lang="en-US" sz="1200" dirty="0"/>
          </a:p>
        </p:txBody>
      </p:sp>
      <p:sp>
        <p:nvSpPr>
          <p:cNvPr id="38" name="Text 35"/>
          <p:cNvSpPr/>
          <p:nvPr/>
        </p:nvSpPr>
        <p:spPr>
          <a:xfrm>
            <a:off x="9052560" y="184708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Model defines shape</a:t>
            </a:r>
            <a:endParaRPr lang="en-US" sz="850" dirty="0"/>
          </a:p>
        </p:txBody>
      </p:sp>
      <p:sp>
        <p:nvSpPr>
          <p:cNvPr id="39" name="Shape 36"/>
          <p:cNvSpPr/>
          <p:nvPr/>
        </p:nvSpPr>
        <p:spPr>
          <a:xfrm>
            <a:off x="8997696" y="2398014"/>
            <a:ext cx="2295144" cy="0"/>
          </a:xfrm>
          <a:prstGeom prst="line">
            <a:avLst/>
          </a:prstGeom>
          <a:noFill/>
          <a:ln w="7620">
            <a:solidFill>
              <a:srgbClr val="DCE6EF"/>
            </a:solidFill>
            <a:prstDash val="solid"/>
          </a:ln>
        </p:spPr>
      </p:sp>
      <p:sp>
        <p:nvSpPr>
          <p:cNvPr id="40" name="Text 37"/>
          <p:cNvSpPr/>
          <p:nvPr/>
        </p:nvSpPr>
        <p:spPr>
          <a:xfrm>
            <a:off x="9052560" y="245287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Data class accesses SQL</a:t>
            </a:r>
            <a:endParaRPr lang="en-US" sz="850" dirty="0"/>
          </a:p>
        </p:txBody>
      </p:sp>
      <p:sp>
        <p:nvSpPr>
          <p:cNvPr id="41" name="Shape 38"/>
          <p:cNvSpPr/>
          <p:nvPr/>
        </p:nvSpPr>
        <p:spPr>
          <a:xfrm>
            <a:off x="8997696" y="3003804"/>
            <a:ext cx="2295144" cy="0"/>
          </a:xfrm>
          <a:prstGeom prst="line">
            <a:avLst/>
          </a:prstGeom>
          <a:noFill/>
          <a:ln w="7620">
            <a:solidFill>
              <a:srgbClr val="DCE6EF"/>
            </a:solidFill>
            <a:prstDash val="solid"/>
          </a:ln>
        </p:spPr>
      </p:sp>
      <p:sp>
        <p:nvSpPr>
          <p:cNvPr id="42" name="Text 39"/>
          <p:cNvSpPr/>
          <p:nvPr/>
        </p:nvSpPr>
        <p:spPr>
          <a:xfrm>
            <a:off x="9052560" y="305866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Controller exposes API</a:t>
            </a:r>
            <a:endParaRPr lang="en-US" sz="850" dirty="0"/>
          </a:p>
        </p:txBody>
      </p:sp>
      <p:sp>
        <p:nvSpPr>
          <p:cNvPr id="43" name="Shape 40"/>
          <p:cNvSpPr/>
          <p:nvPr/>
        </p:nvSpPr>
        <p:spPr>
          <a:xfrm>
            <a:off x="8997696" y="3609594"/>
            <a:ext cx="2295144" cy="0"/>
          </a:xfrm>
          <a:prstGeom prst="line">
            <a:avLst/>
          </a:prstGeom>
          <a:noFill/>
          <a:ln w="7620">
            <a:solidFill>
              <a:srgbClr val="DCE6EF"/>
            </a:solidFill>
            <a:prstDash val="solid"/>
          </a:ln>
        </p:spPr>
      </p:sp>
      <p:sp>
        <p:nvSpPr>
          <p:cNvPr id="44" name="Text 41"/>
          <p:cNvSpPr/>
          <p:nvPr/>
        </p:nvSpPr>
        <p:spPr>
          <a:xfrm>
            <a:off x="9052560" y="3664458"/>
            <a:ext cx="2185416" cy="532638"/>
          </a:xfrm>
          <a:prstGeom prst="rect">
            <a:avLst/>
          </a:prstGeom>
          <a:noFill/>
          <a:ln/>
        </p:spPr>
        <p:txBody>
          <a:bodyPr wrap="square" lIns="0" tIns="0" rIns="0" bIns="0" rtlCol="0" anchor="ctr">
            <a:normAutofit/>
          </a:bodyPr>
          <a:lstStyle/>
          <a:p>
            <a:pPr indent="0" marL="0">
              <a:buNone/>
            </a:pPr>
            <a:r>
              <a:rPr lang="en-US" sz="850" dirty="0">
                <a:solidFill>
                  <a:srgbClr val="15304A"/>
                </a:solidFill>
              </a:rPr>
              <a:t>Swagger tests endpoints</a:t>
            </a:r>
            <a:endParaRPr lang="en-US" sz="850" dirty="0"/>
          </a:p>
        </p:txBody>
      </p:sp>
      <p:sp>
        <p:nvSpPr>
          <p:cNvPr id="45" name="Shape 42"/>
          <p:cNvSpPr/>
          <p:nvPr/>
        </p:nvSpPr>
        <p:spPr>
          <a:xfrm>
            <a:off x="1005840" y="4709160"/>
            <a:ext cx="10058400" cy="822960"/>
          </a:xfrm>
          <a:prstGeom prst="roundRect">
            <a:avLst>
              <a:gd name="adj" fmla="val 8889"/>
            </a:avLst>
          </a:prstGeom>
          <a:solidFill>
            <a:srgbClr val="10375F"/>
          </a:solidFill>
          <a:ln w="12700">
            <a:solidFill>
              <a:srgbClr val="10375F"/>
            </a:solidFill>
            <a:prstDash val="solid"/>
          </a:ln>
        </p:spPr>
      </p:sp>
      <p:sp>
        <p:nvSpPr>
          <p:cNvPr id="46" name="Text 43"/>
          <p:cNvSpPr/>
          <p:nvPr/>
        </p:nvSpPr>
        <p:spPr>
          <a:xfrm>
            <a:off x="1234440" y="4910328"/>
            <a:ext cx="9601200" cy="256032"/>
          </a:xfrm>
          <a:prstGeom prst="rect">
            <a:avLst/>
          </a:prstGeom>
          <a:noFill/>
          <a:ln/>
        </p:spPr>
        <p:txBody>
          <a:bodyPr wrap="square" lIns="0" tIns="0" rIns="0" bIns="0" rtlCol="0" anchor="ctr">
            <a:normAutofit/>
          </a:bodyPr>
          <a:lstStyle/>
          <a:p>
            <a:pPr indent="0" marL="0">
              <a:buNone/>
            </a:pPr>
            <a:r>
              <a:rPr lang="en-US" sz="1300" b="1" dirty="0">
                <a:solidFill>
                  <a:srgbClr val="FFFFFF"/>
                </a:solidFill>
              </a:rPr>
              <a:t>Big lesson</a:t>
            </a:r>
            <a:endParaRPr lang="en-US" sz="1300" dirty="0"/>
          </a:p>
        </p:txBody>
      </p:sp>
      <p:sp>
        <p:nvSpPr>
          <p:cNvPr id="47" name="Text 44"/>
          <p:cNvSpPr/>
          <p:nvPr/>
        </p:nvSpPr>
        <p:spPr>
          <a:xfrm>
            <a:off x="1234440" y="5294376"/>
            <a:ext cx="9601200" cy="36576"/>
          </a:xfrm>
          <a:prstGeom prst="rect">
            <a:avLst/>
          </a:prstGeom>
          <a:noFill/>
          <a:ln/>
        </p:spPr>
        <p:txBody>
          <a:bodyPr wrap="square" lIns="254" tIns="254" rIns="254" bIns="254" rtlCol="0" anchor="t">
            <a:normAutofit/>
          </a:bodyPr>
          <a:lstStyle/>
          <a:p>
            <a:pPr indent="0" marL="0">
              <a:buNone/>
            </a:pPr>
            <a:r>
              <a:rPr lang="en-US" sz="1120" dirty="0">
                <a:solidFill>
                  <a:srgbClr val="FFFFFF"/>
                </a:solidFill>
              </a:rPr>
              <a:t>A professional full-stack system is not one file. It is a chain of responsibilities: user interface, API contract, business validation, database access and deployment workflow.</a:t>
            </a:r>
            <a:endParaRPr lang="en-US" sz="112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375F"/>
        </a:solidFill>
      </p:bgPr>
    </p:bg>
    <p:spTree>
      <p:nvGrpSpPr>
        <p:cNvPr id="1" name=""/>
        <p:cNvGrpSpPr/>
        <p:nvPr/>
      </p:nvGrpSpPr>
      <p:grpSpPr>
        <a:xfrm>
          <a:off x="0" y="0"/>
          <a:ext cx="0" cy="0"/>
          <a:chOff x="0" y="0"/>
          <a:chExt cx="0" cy="0"/>
        </a:xfrm>
      </p:grpSpPr>
      <p:pic>
        <p:nvPicPr>
          <p:cNvPr id="2" name="Image 0" descr="/mnt/data/rentalpro_doc_assets/hero-buildings.png">    </p:cNvPr>
          <p:cNvPicPr>
            <a:picLocks noChangeAspect="1"/>
          </p:cNvPicPr>
          <p:nvPr/>
        </p:nvPicPr>
        <p:blipFill>
          <a:blip r:embed="rId1"/>
          <a:srcRect l="0" r="0" t="11838" b="11838"/>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alpha val="75000"/>
            </a:srgbClr>
          </a:solidFill>
          <a:ln w="12700">
            <a:solidFill>
              <a:srgbClr val="333333">
                <a:alpha val="0"/>
              </a:srgbClr>
            </a:solidFill>
            <a:prstDash val="solid"/>
          </a:ln>
        </p:spPr>
      </p:sp>
      <p:sp>
        <p:nvSpPr>
          <p:cNvPr id="4" name="Shape 1"/>
          <p:cNvSpPr/>
          <p:nvPr/>
        </p:nvSpPr>
        <p:spPr>
          <a:xfrm>
            <a:off x="0" y="0"/>
            <a:ext cx="12191695" cy="6858000"/>
          </a:xfrm>
          <a:prstGeom prst="rect">
            <a:avLst/>
          </a:prstGeom>
          <a:solidFill>
            <a:srgbClr val="10375F">
              <a:alpha val="85000"/>
            </a:srgbClr>
          </a:solidFill>
          <a:ln w="12700">
            <a:solidFill>
              <a:srgbClr val="333333">
                <a:alpha val="0"/>
              </a:srgbClr>
            </a:solidFill>
            <a:prstDash val="solid"/>
          </a:ln>
        </p:spPr>
      </p:sp>
      <p:sp>
        <p:nvSpPr>
          <p:cNvPr id="5" name="Text 2"/>
          <p:cNvSpPr/>
          <p:nvPr/>
        </p:nvSpPr>
        <p:spPr>
          <a:xfrm>
            <a:off x="731520" y="777240"/>
            <a:ext cx="6766560" cy="594360"/>
          </a:xfrm>
          <a:prstGeom prst="rect">
            <a:avLst/>
          </a:prstGeom>
          <a:noFill/>
          <a:ln/>
        </p:spPr>
        <p:txBody>
          <a:bodyPr wrap="square" lIns="0" tIns="0" rIns="0" bIns="0" rtlCol="0" anchor="ctr"/>
          <a:lstStyle/>
          <a:p>
            <a:pPr indent="0" marL="0">
              <a:buNone/>
            </a:pPr>
            <a:r>
              <a:rPr lang="en-US" sz="3800" b="1" dirty="0">
                <a:solidFill>
                  <a:srgbClr val="FFFFFF"/>
                </a:solidFill>
              </a:rPr>
              <a:t>Conclusion</a:t>
            </a:r>
            <a:endParaRPr lang="en-US" sz="3800" dirty="0"/>
          </a:p>
        </p:txBody>
      </p:sp>
      <p:sp>
        <p:nvSpPr>
          <p:cNvPr id="6" name="Text 3"/>
          <p:cNvSpPr/>
          <p:nvPr/>
        </p:nvSpPr>
        <p:spPr>
          <a:xfrm>
            <a:off x="749808" y="1664208"/>
            <a:ext cx="6675120" cy="1325880"/>
          </a:xfrm>
          <a:prstGeom prst="rect">
            <a:avLst/>
          </a:prstGeom>
          <a:noFill/>
          <a:ln/>
        </p:spPr>
        <p:txBody>
          <a:bodyPr wrap="square" lIns="0" tIns="0" rIns="0" bIns="0" rtlCol="0" anchor="ctr">
            <a:normAutofit/>
          </a:bodyPr>
          <a:lstStyle/>
          <a:p>
            <a:pPr indent="0" marL="0">
              <a:buNone/>
            </a:pPr>
            <a:r>
              <a:rPr lang="en-US" sz="1900" dirty="0">
                <a:solidFill>
                  <a:srgbClr val="EAF2F9"/>
                </a:solidFill>
              </a:rPr>
              <a:t>RentalPro RMS is a complete full-stack learning project that demonstrates professional system thinking: responsive React UI, ASP.NET Core Web API, SQL Server relationships, dependency injection, Swagger testing and wwwroot deployment.</a:t>
            </a:r>
            <a:endParaRPr lang="en-US" sz="1900" dirty="0"/>
          </a:p>
        </p:txBody>
      </p:sp>
      <p:sp>
        <p:nvSpPr>
          <p:cNvPr id="7" name="Shape 4"/>
          <p:cNvSpPr/>
          <p:nvPr/>
        </p:nvSpPr>
        <p:spPr>
          <a:xfrm>
            <a:off x="7863840" y="1005840"/>
            <a:ext cx="3200400" cy="4389120"/>
          </a:xfrm>
          <a:prstGeom prst="roundRect">
            <a:avLst>
              <a:gd name="adj" fmla="val 2286"/>
            </a:avLst>
          </a:prstGeom>
          <a:solidFill>
            <a:srgbClr val="FFFFFF"/>
          </a:solidFill>
          <a:ln w="12700">
            <a:solidFill>
              <a:srgbClr val="DCE6EF"/>
            </a:solidFill>
            <a:prstDash val="solid"/>
          </a:ln>
          <a:effectLst>
            <a:outerShdw sx="100000" sy="100000" kx="0" ky="0" algn="bl" rotWithShape="0" blurRad="25400" dist="12700" dir="2700000">
              <a:srgbClr val="000000">
                <a:alpha val="12000"/>
              </a:srgbClr>
            </a:outerShdw>
          </a:effectLst>
        </p:spPr>
      </p:sp>
      <p:sp>
        <p:nvSpPr>
          <p:cNvPr id="8" name="Text 5"/>
          <p:cNvSpPr/>
          <p:nvPr/>
        </p:nvSpPr>
        <p:spPr>
          <a:xfrm>
            <a:off x="8092440" y="1207008"/>
            <a:ext cx="2743200" cy="256032"/>
          </a:xfrm>
          <a:prstGeom prst="rect">
            <a:avLst/>
          </a:prstGeom>
          <a:noFill/>
          <a:ln/>
        </p:spPr>
        <p:txBody>
          <a:bodyPr wrap="square" lIns="0" tIns="0" rIns="0" bIns="0" rtlCol="0" anchor="ctr">
            <a:normAutofit/>
          </a:bodyPr>
          <a:lstStyle/>
          <a:p>
            <a:pPr indent="0" marL="0">
              <a:buNone/>
            </a:pPr>
            <a:r>
              <a:rPr lang="en-US" sz="1500" b="1" dirty="0">
                <a:solidFill>
                  <a:srgbClr val="10375F"/>
                </a:solidFill>
              </a:rPr>
              <a:t>Next improvements</a:t>
            </a:r>
            <a:endParaRPr lang="en-US" sz="1500" dirty="0"/>
          </a:p>
        </p:txBody>
      </p:sp>
      <p:sp>
        <p:nvSpPr>
          <p:cNvPr id="9" name="Text 6"/>
          <p:cNvSpPr/>
          <p:nvPr/>
        </p:nvSpPr>
        <p:spPr>
          <a:xfrm>
            <a:off x="8092440" y="1591056"/>
            <a:ext cx="2743200" cy="3602736"/>
          </a:xfrm>
          <a:prstGeom prst="rect">
            <a:avLst/>
          </a:prstGeom>
          <a:noFill/>
          <a:ln/>
        </p:spPr>
        <p:txBody>
          <a:bodyPr wrap="square" lIns="254" tIns="254" rIns="254" bIns="254" rtlCol="0" anchor="t">
            <a:normAutofit/>
          </a:bodyPr>
          <a:lstStyle/>
          <a:p>
            <a:pPr indent="0" marL="0">
              <a:buNone/>
            </a:pPr>
            <a:r>
              <a:rPr lang="en-US" sz="1450" dirty="0">
                <a:solidFill>
                  <a:srgbClr val="15304A"/>
                </a:solidFill>
              </a:rPr>
              <a:t>• JWT authentication</a:t>
            </a:r>
            <a:endParaRPr lang="en-US" sz="1450" dirty="0"/>
          </a:p>
          <a:p>
            <a:pPr indent="0" marL="0">
              <a:buNone/>
            </a:pPr>
            <a:r>
              <a:rPr lang="en-US" sz="1450" dirty="0">
                <a:solidFill>
                  <a:srgbClr val="15304A"/>
                </a:solidFill>
              </a:rPr>
              <a:t>• Role-based API authorization</a:t>
            </a:r>
            <a:endParaRPr lang="en-US" sz="1450" dirty="0"/>
          </a:p>
          <a:p>
            <a:pPr indent="0" marL="0">
              <a:buNone/>
            </a:pPr>
            <a:r>
              <a:rPr lang="en-US" sz="1450" dirty="0">
                <a:solidFill>
                  <a:srgbClr val="15304A"/>
                </a:solidFill>
              </a:rPr>
              <a:t>• Image upload for properties</a:t>
            </a:r>
            <a:endParaRPr lang="en-US" sz="1450" dirty="0"/>
          </a:p>
          <a:p>
            <a:pPr indent="0" marL="0">
              <a:buNone/>
            </a:pPr>
            <a:r>
              <a:rPr lang="en-US" sz="1450" dirty="0">
                <a:solidFill>
                  <a:srgbClr val="15304A"/>
                </a:solidFill>
              </a:rPr>
              <a:t>• Printable reports</a:t>
            </a:r>
            <a:endParaRPr lang="en-US" sz="1450" dirty="0"/>
          </a:p>
          <a:p>
            <a:pPr indent="0" marL="0">
              <a:buNone/>
            </a:pPr>
            <a:r>
              <a:rPr lang="en-US" sz="1450" dirty="0">
                <a:solidFill>
                  <a:srgbClr val="15304A"/>
                </a:solidFill>
              </a:rPr>
              <a:t>• Dashboard charts</a:t>
            </a:r>
            <a:endParaRPr lang="en-US" sz="1450" dirty="0"/>
          </a:p>
          <a:p>
            <a:pPr indent="0" marL="0">
              <a:buNone/>
            </a:pPr>
            <a:r>
              <a:rPr lang="en-US" sz="1450" dirty="0">
                <a:solidFill>
                  <a:srgbClr val="15304A"/>
                </a:solidFill>
              </a:rPr>
              <a:t>• Cloud deployment</a:t>
            </a:r>
            <a:endParaRPr lang="en-US" sz="1450" dirty="0"/>
          </a:p>
        </p:txBody>
      </p:sp>
      <p:sp>
        <p:nvSpPr>
          <p:cNvPr id="10" name="Text 7"/>
          <p:cNvSpPr/>
          <p:nvPr/>
        </p:nvSpPr>
        <p:spPr>
          <a:xfrm>
            <a:off x="749808" y="5074920"/>
            <a:ext cx="2743200" cy="411480"/>
          </a:xfrm>
          <a:prstGeom prst="rect">
            <a:avLst/>
          </a:prstGeom>
          <a:noFill/>
          <a:ln/>
        </p:spPr>
        <p:txBody>
          <a:bodyPr wrap="square" lIns="0" tIns="0" rIns="0" bIns="0" rtlCol="0" anchor="ctr"/>
          <a:lstStyle/>
          <a:p>
            <a:pPr indent="0" marL="0">
              <a:buNone/>
            </a:pPr>
            <a:r>
              <a:rPr lang="en-US" sz="2400" b="1" dirty="0">
                <a:solidFill>
                  <a:srgbClr val="E7B94B"/>
                </a:solidFill>
              </a:rPr>
              <a:t>Thank you</a:t>
            </a:r>
            <a:endParaRPr lang="en-US" sz="2400" dirty="0"/>
          </a:p>
        </p:txBody>
      </p:sp>
      <p:sp>
        <p:nvSpPr>
          <p:cNvPr id="11" name="Text 8"/>
          <p:cNvSpPr/>
          <p:nvPr/>
        </p:nvSpPr>
        <p:spPr>
          <a:xfrm>
            <a:off x="749808" y="5559552"/>
            <a:ext cx="4572000" cy="320040"/>
          </a:xfrm>
          <a:prstGeom prst="rect">
            <a:avLst/>
          </a:prstGeom>
          <a:noFill/>
          <a:ln/>
        </p:spPr>
        <p:txBody>
          <a:bodyPr wrap="square" lIns="0" tIns="0" rIns="0" bIns="0" rtlCol="0" anchor="ctr"/>
          <a:lstStyle/>
          <a:p>
            <a:pPr indent="0" marL="0">
              <a:buNone/>
            </a:pPr>
            <a:r>
              <a:rPr lang="en-US" sz="1400" dirty="0">
                <a:solidFill>
                  <a:srgbClr val="FFFFFF"/>
                </a:solidFill>
              </a:rPr>
              <a:t>Questions and discussion</a:t>
            </a:r>
            <a:endParaRPr lang="en-US" sz="1400" dirty="0"/>
          </a:p>
        </p:txBody>
      </p:sp>
      <p:sp>
        <p:nvSpPr>
          <p:cNvPr id="25" name="Slide Number Placeholder 0"/>
          <p:cNvSpPr>
            <a:spLocks noGrp="1"/>
          </p:cNvSpPr>
          <p:nvPr>
            <p:ph type="sldNum" sz="quarter" idx="4294967295"/>
          </p:nvPr>
        </p:nvSpPr>
        <p:spPr>
          <a:xfrm>
            <a:off x="11503152"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D90"/>
                </a:solidFill>
                <a:latin typeface="Aptos"/>
                <a:ea typeface="Aptos"/>
                <a:cs typeface="Aptos"/>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RentalPro RMS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RentalPro RMS Project Presentation</dc:title>
  <dc:subject>RentalPro RMS project presentation</dc:subject>
  <dc:creator>OpenAI</dc:creator>
  <cp:lastModifiedBy>OpenAI</cp:lastModifiedBy>
  <cp:revision>1</cp:revision>
  <dcterms:created xsi:type="dcterms:W3CDTF">2026-07-02T14:49:02Z</dcterms:created>
  <dcterms:modified xsi:type="dcterms:W3CDTF">2026-07-02T14:49:02Z</dcterms:modified>
</cp:coreProperties>
</file>